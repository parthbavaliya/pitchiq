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685800"/>
          </a:xfrm>
          <a:prstGeom prst="rect">
            <a:avLst/>
          </a:prstGeom>
          <a:noFill/>
        </p:spPr>
        <p:txBody>
          <a:bodyPr wrap="none" lIns="0" tIns="0" rIns="0" bIns="0">
            <a:spAutoFit/>
          </a:bodyPr>
          <a:lstStyle/>
          <a:p>
            <a:pPr algn="ctr">
              <a:defRPr sz="2300" b="1">
                <a:solidFill>
                  <a:srgbClr val="801818"/>
                </a:solidFill>
                <a:latin typeface="Georgia"/>
              </a:defRPr>
            </a:pPr>
            <a:r>
              <a:t>SILVER OAK UNIVERSITY</a:t>
            </a:r>
          </a:p>
          <a:p>
            <a:pPr algn="ctr">
              <a:defRPr sz="950">
                <a:solidFill>
                  <a:srgbClr val="64748B"/>
                </a:solidFill>
                <a:latin typeface="Arial"/>
              </a:defRPr>
            </a:pPr>
            <a:r>
              <a:t>COLLEGE OF TECHNOLOGY • DEPARTMENT OF COMPUTER ENGINEERING • NAAC A+</a:t>
            </a:r>
          </a:p>
        </p:txBody>
      </p:sp>
      <p:sp>
        <p:nvSpPr>
          <p:cNvPr id="4" name="Rectangle 3"/>
          <p:cNvSpPr/>
          <p:nvPr/>
        </p:nvSpPr>
        <p:spPr>
          <a:xfrm>
            <a:off x="731520" y="1143000"/>
            <a:ext cx="10728655" cy="2011680"/>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61872"/>
            <a:ext cx="10362895" cy="1783080"/>
          </a:xfrm>
          <a:prstGeom prst="rect">
            <a:avLst/>
          </a:prstGeom>
          <a:noFill/>
        </p:spPr>
        <p:txBody>
          <a:bodyPr wrap="square" lIns="0" tIns="0" rIns="0" bIns="0">
            <a:spAutoFit/>
          </a:bodyPr>
          <a:lstStyle/>
          <a:p>
            <a:pPr algn="ctr">
              <a:defRPr sz="1100">
                <a:solidFill>
                  <a:srgbClr val="FED7AA"/>
                </a:solidFill>
                <a:latin typeface="Arial"/>
              </a:defRPr>
            </a:pPr>
            <a:r>
              <a:t>Final Year Major Project • Project ID: M2_CSE_027</a:t>
            </a:r>
          </a:p>
          <a:p>
            <a:pPr algn="ctr">
              <a:spcBef>
                <a:spcPts val="300"/>
              </a:spcBef>
              <a:defRPr sz="2400" b="1">
                <a:solidFill>
                  <a:srgbClr val="FFFFFF"/>
                </a:solidFill>
                <a:latin typeface="Georgia"/>
              </a:defRPr>
            </a:pPr>
            <a:r>
              <a:t>PitchIQ v2.0: Knowledge-Grounded Pitch Optimization Engine</a:t>
            </a:r>
          </a:p>
          <a:p>
            <a:pPr algn="ctr">
              <a:spcBef>
                <a:spcPts val="400"/>
              </a:spcBef>
              <a:defRPr sz="1150">
                <a:solidFill>
                  <a:srgbClr val="FEF3C7"/>
                </a:solidFill>
                <a:latin typeface="Arial"/>
              </a:defRPr>
            </a:pPr>
            <a:r>
              <a:t>Case-Based Diagnostic RAG using Shark Tank &amp; Venture Capital Deal Benchmarks</a:t>
            </a:r>
          </a:p>
        </p:txBody>
      </p:sp>
      <p:graphicFrame>
        <p:nvGraphicFramePr>
          <p:cNvPr id="6" name="Table 5"/>
          <p:cNvGraphicFramePr>
            <a:graphicFrameLocks noGrp="1"/>
          </p:cNvGraphicFramePr>
          <p:nvPr/>
        </p:nvGraphicFramePr>
        <p:xfrm>
          <a:off x="1097280" y="3310128"/>
          <a:ext cx="9996220" cy="777240"/>
        </p:xfrm>
        <a:graphic>
          <a:graphicData uri="http://schemas.openxmlformats.org/drawingml/2006/table">
            <a:tbl>
              <a:tblPr firstRow="1" bandRow="1">
                <a:tableStyleId>{5C22544A-7EE6-4342-B048-85BDC9FD1C3A}</a:tableStyleId>
              </a:tblPr>
              <a:tblGrid>
                <a:gridCol w="1828800"/>
                <a:gridCol w="3169310"/>
                <a:gridCol w="1828800"/>
                <a:gridCol w="3169310"/>
              </a:tblGrid>
              <a:tr h="388620">
                <a:tc>
                  <a:txBody>
                    <a:bodyPr/>
                    <a:lstStyle/>
                    <a:p>
                      <a:pPr>
                        <a:defRPr sz="1000" b="1">
                          <a:solidFill>
                            <a:srgbClr val="801818"/>
                          </a:solidFill>
                          <a:latin typeface="Arial"/>
                        </a:defRPr>
                      </a:pPr>
                      <a:r>
                        <a:t>Project ID</a:t>
                      </a:r>
                    </a:p>
                  </a:txBody>
                  <a:tcPr marL="109728" marR="109728" marT="36576" marB="36576">
                    <a:solidFill>
                      <a:srgbClr val="F8FAFC"/>
                    </a:solidFill>
                  </a:tcPr>
                </a:tc>
                <a:tc>
                  <a:txBody>
                    <a:bodyPr/>
                    <a:lstStyle/>
                    <a:p>
                      <a:pPr>
                        <a:defRPr sz="1000" b="1">
                          <a:solidFill>
                            <a:srgbClr val="1E293B"/>
                          </a:solidFill>
                          <a:latin typeface="Arial"/>
                        </a:defRPr>
                      </a:pPr>
                      <a:r>
                        <a:t>M2_CSE_027</a:t>
                      </a:r>
                    </a:p>
                  </a:txBody>
                  <a:tcPr marL="109728" marR="109728" marT="36576" marB="36576">
                    <a:solidFill>
                      <a:srgbClr val="F8FAFC"/>
                    </a:solidFill>
                  </a:tcPr>
                </a:tc>
                <a:tc>
                  <a:txBody>
                    <a:bodyPr/>
                    <a:lstStyle/>
                    <a:p>
                      <a:pPr>
                        <a:defRPr sz="1000" b="1">
                          <a:solidFill>
                            <a:srgbClr val="801818"/>
                          </a:solidFill>
                          <a:latin typeface="Arial"/>
                        </a:defRPr>
                      </a:pPr>
                      <a:r>
                        <a:t>Academic Program</a:t>
                      </a:r>
                    </a:p>
                  </a:txBody>
                  <a:tcPr marL="109728" marR="109728" marT="36576" marB="36576">
                    <a:solidFill>
                      <a:srgbClr val="F8FAFC"/>
                    </a:solidFill>
                  </a:tcPr>
                </a:tc>
                <a:tc>
                  <a:txBody>
                    <a:bodyPr/>
                    <a:lstStyle/>
                    <a:p>
                      <a:pPr>
                        <a:defRPr sz="1000" b="0">
                          <a:solidFill>
                            <a:srgbClr val="1E293B"/>
                          </a:solidFill>
                          <a:latin typeface="Arial"/>
                        </a:defRPr>
                      </a:pPr>
                      <a:r>
                        <a:t>B.Tech Computer Engineering</a:t>
                      </a:r>
                    </a:p>
                  </a:txBody>
                  <a:tcPr marL="109728" marR="109728" marT="36576" marB="36576">
                    <a:solidFill>
                      <a:srgbClr val="FFFFFF"/>
                    </a:solidFill>
                  </a:tcPr>
                </a:tc>
              </a:tr>
              <a:tr h="388620">
                <a:tc>
                  <a:txBody>
                    <a:bodyPr/>
                    <a:lstStyle/>
                    <a:p>
                      <a:pPr>
                        <a:defRPr sz="1000" b="1">
                          <a:solidFill>
                            <a:srgbClr val="801818"/>
                          </a:solidFill>
                          <a:latin typeface="Arial"/>
                        </a:defRPr>
                      </a:pPr>
                      <a:r>
                        <a:t>Project Guide</a:t>
                      </a:r>
                    </a:p>
                  </a:txBody>
                  <a:tcPr marL="109728" marR="109728" marT="36576" marB="36576">
                    <a:solidFill>
                      <a:srgbClr val="F8FAFC"/>
                    </a:solidFill>
                  </a:tcPr>
                </a:tc>
                <a:tc>
                  <a:txBody>
                    <a:bodyPr/>
                    <a:lstStyle/>
                    <a:p>
                      <a:pPr>
                        <a:defRPr sz="1000" b="1">
                          <a:solidFill>
                            <a:srgbClr val="801818"/>
                          </a:solidFill>
                          <a:latin typeface="Arial"/>
                        </a:defRPr>
                      </a:pPr>
                      <a:r>
                        <a:t>Prof. Hemali Patel</a:t>
                      </a:r>
                    </a:p>
                  </a:txBody>
                  <a:tcPr marL="109728" marR="109728" marT="36576" marB="36576">
                    <a:solidFill>
                      <a:srgbClr val="F8FAFC"/>
                    </a:solidFill>
                  </a:tcPr>
                </a:tc>
                <a:tc>
                  <a:txBody>
                    <a:bodyPr/>
                    <a:lstStyle/>
                    <a:p>
                      <a:pPr>
                        <a:defRPr sz="1000" b="1">
                          <a:solidFill>
                            <a:srgbClr val="801818"/>
                          </a:solidFill>
                          <a:latin typeface="Arial"/>
                        </a:defRPr>
                      </a:pPr>
                      <a:r>
                        <a:t>Live Deployment</a:t>
                      </a:r>
                    </a:p>
                  </a:txBody>
                  <a:tcPr marL="109728" marR="109728" marT="36576" marB="36576">
                    <a:solidFill>
                      <a:srgbClr val="F8FAFC"/>
                    </a:solidFill>
                  </a:tcPr>
                </a:tc>
                <a:tc>
                  <a:txBody>
                    <a:bodyPr/>
                    <a:lstStyle/>
                    <a:p>
                      <a:pPr>
                        <a:defRPr sz="1000" b="1">
                          <a:solidFill>
                            <a:srgbClr val="10B981"/>
                          </a:solidFill>
                          <a:latin typeface="Arial"/>
                        </a:defRPr>
                      </a:pPr>
                      <a:r>
                        <a:t>https://pitchiq-chi.vercel.app</a:t>
                      </a:r>
                    </a:p>
                  </a:txBody>
                  <a:tcPr marL="109728" marR="109728" marT="36576" marB="36576">
                    <a:solidFill>
                      <a:srgbClr val="F8FAFC"/>
                    </a:solidFill>
                  </a:tcPr>
                </a:tc>
              </a:tr>
            </a:tbl>
          </a:graphicData>
        </a:graphic>
      </p:graphicFrame>
      <p:sp>
        <p:nvSpPr>
          <p:cNvPr id="7" name="TextBox 6"/>
          <p:cNvSpPr txBox="1"/>
          <p:nvPr/>
        </p:nvSpPr>
        <p:spPr>
          <a:xfrm>
            <a:off x="1097280" y="4206240"/>
            <a:ext cx="9997135" cy="274320"/>
          </a:xfrm>
          <a:prstGeom prst="rect">
            <a:avLst/>
          </a:prstGeom>
          <a:noFill/>
        </p:spPr>
        <p:txBody>
          <a:bodyPr wrap="none" lIns="0" tIns="0" rIns="0" bIns="0">
            <a:spAutoFit/>
          </a:bodyPr>
          <a:lstStyle/>
          <a:p>
            <a:pPr algn="ctr">
              <a:defRPr sz="1000" b="1">
                <a:solidFill>
                  <a:srgbClr val="801818"/>
                </a:solidFill>
                <a:latin typeface="Arial"/>
              </a:defRPr>
            </a:pPr>
            <a:r>
              <a:t>PROJECT TEAM MEMBERS</a:t>
            </a:r>
          </a:p>
        </p:txBody>
      </p:sp>
      <p:graphicFrame>
        <p:nvGraphicFramePr>
          <p:cNvPr id="8" name="Table 7"/>
          <p:cNvGraphicFramePr>
            <a:graphicFrameLocks noGrp="1"/>
          </p:cNvGraphicFramePr>
          <p:nvPr/>
        </p:nvGraphicFramePr>
        <p:xfrm>
          <a:off x="1097280" y="4526280"/>
          <a:ext cx="9997135" cy="1463040"/>
        </p:xfrm>
        <a:graphic>
          <a:graphicData uri="http://schemas.openxmlformats.org/drawingml/2006/table">
            <a:tbl>
              <a:tblPr firstRow="1" bandRow="1">
                <a:tableStyleId>{5C22544A-7EE6-4342-B048-85BDC9FD1C3A}</a:tableStyleId>
              </a:tblPr>
              <a:tblGrid>
                <a:gridCol w="1097280"/>
                <a:gridCol w="3413455"/>
                <a:gridCol w="2377440"/>
                <a:gridCol w="3108960"/>
              </a:tblGrid>
              <a:tr h="365760">
                <a:tc>
                  <a:txBody>
                    <a:bodyPr/>
                    <a:lstStyle/>
                    <a:p>
                      <a:pPr algn="ctr">
                        <a:defRPr sz="950" b="1">
                          <a:solidFill>
                            <a:srgbClr val="FFFFFF"/>
                          </a:solidFill>
                          <a:latin typeface="Arial"/>
                        </a:defRPr>
                      </a:pPr>
                      <a:r>
                        <a:t>Sr. No.</a:t>
                      </a:r>
                    </a:p>
                  </a:txBody>
                  <a:tcPr marL="91440" marR="91440" marT="36576" marB="36576">
                    <a:solidFill>
                      <a:srgbClr val="801818"/>
                    </a:solidFill>
                  </a:tcPr>
                </a:tc>
                <a:tc>
                  <a:txBody>
                    <a:bodyPr/>
                    <a:lstStyle/>
                    <a:p>
                      <a:pPr algn="ctr">
                        <a:defRPr sz="950" b="1">
                          <a:solidFill>
                            <a:srgbClr val="FFFFFF"/>
                          </a:solidFill>
                          <a:latin typeface="Arial"/>
                        </a:defRPr>
                      </a:pPr>
                      <a:r>
                        <a:t>Student Full Name</a:t>
                      </a:r>
                    </a:p>
                  </a:txBody>
                  <a:tcPr marL="91440" marR="91440" marT="36576" marB="36576">
                    <a:solidFill>
                      <a:srgbClr val="801818"/>
                    </a:solidFill>
                  </a:tcPr>
                </a:tc>
                <a:tc>
                  <a:txBody>
                    <a:bodyPr/>
                    <a:lstStyle/>
                    <a:p>
                      <a:pPr algn="ctr">
                        <a:defRPr sz="950" b="1">
                          <a:solidFill>
                            <a:srgbClr val="FFFFFF"/>
                          </a:solidFill>
                          <a:latin typeface="Arial"/>
                        </a:defRPr>
                      </a:pPr>
                      <a:r>
                        <a:t>Enrollment Number</a:t>
                      </a:r>
                    </a:p>
                  </a:txBody>
                  <a:tcPr marL="91440" marR="91440" marT="36576" marB="36576">
                    <a:solidFill>
                      <a:srgbClr val="801818"/>
                    </a:solidFill>
                  </a:tcPr>
                </a:tc>
                <a:tc>
                  <a:txBody>
                    <a:bodyPr/>
                    <a:lstStyle/>
                    <a:p>
                      <a:pPr algn="ctr">
                        <a:defRPr sz="950" b="1">
                          <a:solidFill>
                            <a:srgbClr val="FFFFFF"/>
                          </a:solidFill>
                          <a:latin typeface="Arial"/>
                        </a:defRPr>
                      </a:pPr>
                      <a:r>
                        <a:t>Project Responsibilities</a:t>
                      </a:r>
                    </a:p>
                  </a:txBody>
                  <a:tcPr marL="91440" marR="91440" marT="36576" marB="36576">
                    <a:solidFill>
                      <a:srgbClr val="801818"/>
                    </a:solidFill>
                  </a:tcPr>
                </a:tc>
              </a:tr>
              <a:tr h="365760">
                <a:tc>
                  <a:txBody>
                    <a:bodyPr/>
                    <a:lstStyle/>
                    <a:p>
                      <a:pPr algn="ctr">
                        <a:defRPr sz="950" b="0">
                          <a:solidFill>
                            <a:srgbClr val="1E293B"/>
                          </a:solidFill>
                          <a:latin typeface="Arial"/>
                        </a:defRPr>
                      </a:pPr>
                      <a:r>
                        <a:t>1</a:t>
                      </a:r>
                    </a:p>
                  </a:txBody>
                  <a:tcPr marL="91440" marR="91440" marT="36576" marB="36576">
                    <a:solidFill>
                      <a:srgbClr val="F8FAFC"/>
                    </a:solidFill>
                  </a:tcPr>
                </a:tc>
                <a:tc>
                  <a:txBody>
                    <a:bodyPr/>
                    <a:lstStyle/>
                    <a:p>
                      <a:pPr>
                        <a:defRPr sz="950" b="1">
                          <a:solidFill>
                            <a:srgbClr val="1E293B"/>
                          </a:solidFill>
                          <a:latin typeface="Arial"/>
                        </a:defRPr>
                      </a:pPr>
                      <a:r>
                        <a:t>Parth Bavalliya</a:t>
                      </a:r>
                    </a:p>
                  </a:txBody>
                  <a:tcPr marL="91440" marR="91440" marT="36576" marB="36576">
                    <a:solidFill>
                      <a:srgbClr val="F8FAFC"/>
                    </a:solidFill>
                  </a:tcPr>
                </a:tc>
                <a:tc>
                  <a:txBody>
                    <a:bodyPr/>
                    <a:lstStyle/>
                    <a:p>
                      <a:pPr algn="ctr">
                        <a:defRPr sz="950" b="1">
                          <a:solidFill>
                            <a:srgbClr val="1E293B"/>
                          </a:solidFill>
                          <a:latin typeface="Arial"/>
                        </a:defRPr>
                      </a:pPr>
                      <a:r>
                        <a:t>2402031830036</a:t>
                      </a:r>
                    </a:p>
                  </a:txBody>
                  <a:tcPr marL="91440" marR="91440" marT="36576" marB="36576">
                    <a:solidFill>
                      <a:srgbClr val="F8FAFC"/>
                    </a:solidFill>
                  </a:tcPr>
                </a:tc>
                <a:tc>
                  <a:txBody>
                    <a:bodyPr/>
                    <a:lstStyle/>
                    <a:p>
                      <a:pPr>
                        <a:defRPr sz="950">
                          <a:solidFill>
                            <a:srgbClr val="1E293B"/>
                          </a:solidFill>
                          <a:latin typeface="Arial"/>
                        </a:defRPr>
                      </a:pPr>
                      <a:r>
                        <a:t>RAG Engine Architecture, Corpus Indexing, Frontend UI</a:t>
                      </a:r>
                    </a:p>
                  </a:txBody>
                  <a:tcPr marL="91440" marR="91440" marT="36576" marB="36576">
                    <a:solidFill>
                      <a:srgbClr val="F8FAFC"/>
                    </a:solidFill>
                  </a:tcPr>
                </a:tc>
              </a:tr>
              <a:tr h="365760">
                <a:tc>
                  <a:txBody>
                    <a:bodyPr/>
                    <a:lstStyle/>
                    <a:p>
                      <a:pPr algn="ctr">
                        <a:defRPr sz="950" b="0">
                          <a:solidFill>
                            <a:srgbClr val="1E293B"/>
                          </a:solidFill>
                          <a:latin typeface="Arial"/>
                        </a:defRPr>
                      </a:pPr>
                      <a:r>
                        <a:t>2</a:t>
                      </a:r>
                    </a:p>
                  </a:txBody>
                  <a:tcPr marL="91440" marR="91440" marT="36576" marB="36576">
                    <a:solidFill>
                      <a:srgbClr val="FFFFFF"/>
                    </a:solidFill>
                  </a:tcPr>
                </a:tc>
                <a:tc>
                  <a:txBody>
                    <a:bodyPr/>
                    <a:lstStyle/>
                    <a:p>
                      <a:pPr>
                        <a:defRPr sz="950" b="1">
                          <a:solidFill>
                            <a:srgbClr val="1E293B"/>
                          </a:solidFill>
                          <a:latin typeface="Arial"/>
                        </a:defRPr>
                      </a:pPr>
                      <a:r>
                        <a:t>Harsh Varatiya</a:t>
                      </a:r>
                    </a:p>
                  </a:txBody>
                  <a:tcPr marL="91440" marR="91440" marT="36576" marB="36576">
                    <a:solidFill>
                      <a:srgbClr val="FFFFFF"/>
                    </a:solidFill>
                  </a:tcPr>
                </a:tc>
                <a:tc>
                  <a:txBody>
                    <a:bodyPr/>
                    <a:lstStyle/>
                    <a:p>
                      <a:pPr algn="ctr">
                        <a:defRPr sz="950" b="1">
                          <a:solidFill>
                            <a:srgbClr val="1E293B"/>
                          </a:solidFill>
                          <a:latin typeface="Arial"/>
                        </a:defRPr>
                      </a:pPr>
                      <a:r>
                        <a:t>2402031830026</a:t>
                      </a:r>
                    </a:p>
                  </a:txBody>
                  <a:tcPr marL="91440" marR="91440" marT="36576" marB="36576">
                    <a:solidFill>
                      <a:srgbClr val="FFFFFF"/>
                    </a:solidFill>
                  </a:tcPr>
                </a:tc>
                <a:tc>
                  <a:txBody>
                    <a:bodyPr/>
                    <a:lstStyle/>
                    <a:p>
                      <a:pPr>
                        <a:defRPr sz="950">
                          <a:solidFill>
                            <a:srgbClr val="1E293B"/>
                          </a:solidFill>
                          <a:latin typeface="Arial"/>
                        </a:defRPr>
                      </a:pPr>
                      <a:r>
                        <a:t>Shark Tank Deal Corpus Compilation, Jaccard Matching</a:t>
                      </a:r>
                    </a:p>
                  </a:txBody>
                  <a:tcPr marL="91440" marR="91440" marT="36576" marB="36576">
                    <a:solidFill>
                      <a:srgbClr val="FFFFFF"/>
                    </a:solidFill>
                  </a:tcPr>
                </a:tc>
              </a:tr>
              <a:tr h="365760">
                <a:tc>
                  <a:txBody>
                    <a:bodyPr/>
                    <a:lstStyle/>
                    <a:p>
                      <a:pPr algn="ctr">
                        <a:defRPr sz="950" b="0">
                          <a:solidFill>
                            <a:srgbClr val="1E293B"/>
                          </a:solidFill>
                          <a:latin typeface="Arial"/>
                        </a:defRPr>
                      </a:pPr>
                      <a:r>
                        <a:t>3</a:t>
                      </a:r>
                    </a:p>
                  </a:txBody>
                  <a:tcPr marL="91440" marR="91440" marT="36576" marB="36576">
                    <a:solidFill>
                      <a:srgbClr val="F8FAFC"/>
                    </a:solidFill>
                  </a:tcPr>
                </a:tc>
                <a:tc>
                  <a:txBody>
                    <a:bodyPr/>
                    <a:lstStyle/>
                    <a:p>
                      <a:pPr>
                        <a:defRPr sz="950" b="1">
                          <a:solidFill>
                            <a:srgbClr val="1E293B"/>
                          </a:solidFill>
                          <a:latin typeface="Arial"/>
                        </a:defRPr>
                      </a:pPr>
                      <a:r>
                        <a:t>Akshat Solanki</a:t>
                      </a:r>
                    </a:p>
                  </a:txBody>
                  <a:tcPr marL="91440" marR="91440" marT="36576" marB="36576">
                    <a:solidFill>
                      <a:srgbClr val="F8FAFC"/>
                    </a:solidFill>
                  </a:tcPr>
                </a:tc>
                <a:tc>
                  <a:txBody>
                    <a:bodyPr/>
                    <a:lstStyle/>
                    <a:p>
                      <a:pPr algn="ctr">
                        <a:defRPr sz="950" b="1">
                          <a:solidFill>
                            <a:srgbClr val="1E293B"/>
                          </a:solidFill>
                          <a:latin typeface="Arial"/>
                        </a:defRPr>
                      </a:pPr>
                      <a:r>
                        <a:t>2402031830015</a:t>
                      </a:r>
                    </a:p>
                  </a:txBody>
                  <a:tcPr marL="91440" marR="91440" marT="36576" marB="36576">
                    <a:solidFill>
                      <a:srgbClr val="F8FAFC"/>
                    </a:solidFill>
                  </a:tcPr>
                </a:tc>
                <a:tc>
                  <a:txBody>
                    <a:bodyPr/>
                    <a:lstStyle/>
                    <a:p>
                      <a:pPr>
                        <a:defRPr sz="950">
                          <a:solidFill>
                            <a:srgbClr val="1E293B"/>
                          </a:solidFill>
                          <a:latin typeface="Arial"/>
                        </a:defRPr>
                      </a:pPr>
                      <a:r>
                        <a:t>Shark Persona Diagnostics, Vercel CI/CD Deployment</a:t>
                      </a:r>
                    </a:p>
                  </a:txBody>
                  <a:tcPr marL="91440" marR="91440" marT="36576" marB="36576">
                    <a:solidFill>
                      <a:srgbClr val="F8FAFC"/>
                    </a:solidFill>
                  </a:tcPr>
                </a:tc>
              </a:tr>
            </a:tbl>
          </a:graphicData>
        </a:graphic>
      </p:graphicFrame>
      <p:sp>
        <p:nvSpPr>
          <p:cNvPr id="9" name="Rectangle 8"/>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11" name="TextBox 10"/>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12" name="TextBox 11"/>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Table of Contents</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2</a:t>
            </a:r>
          </a:p>
        </p:txBody>
      </p:sp>
      <p:sp>
        <p:nvSpPr>
          <p:cNvPr id="10" name="Rounded Rectangle 9"/>
          <p:cNvSpPr/>
          <p:nvPr/>
        </p:nvSpPr>
        <p:spPr>
          <a:xfrm>
            <a:off x="914400" y="1353312"/>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01. Introduction &amp; Executive Summary</a:t>
            </a:r>
          </a:p>
        </p:txBody>
      </p:sp>
      <p:sp>
        <p:nvSpPr>
          <p:cNvPr id="11" name="Rounded Rectangle 10"/>
          <p:cNvSpPr/>
          <p:nvPr/>
        </p:nvSpPr>
        <p:spPr>
          <a:xfrm>
            <a:off x="914400" y="2020824"/>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02. Problem Statement &amp; Market Reality</a:t>
            </a:r>
          </a:p>
        </p:txBody>
      </p:sp>
      <p:sp>
        <p:nvSpPr>
          <p:cNvPr id="12" name="Rounded Rectangle 11"/>
          <p:cNvSpPr/>
          <p:nvPr/>
        </p:nvSpPr>
        <p:spPr>
          <a:xfrm>
            <a:off x="914400" y="2688336"/>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03. Literature Survey &amp; Academic Benchmark</a:t>
            </a:r>
          </a:p>
        </p:txBody>
      </p:sp>
      <p:sp>
        <p:nvSpPr>
          <p:cNvPr id="13" name="Rounded Rectangle 12"/>
          <p:cNvSpPr/>
          <p:nvPr/>
        </p:nvSpPr>
        <p:spPr>
          <a:xfrm>
            <a:off x="914400" y="3355848"/>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04. Research Gaps in Conventional Pitch Tools</a:t>
            </a:r>
          </a:p>
        </p:txBody>
      </p:sp>
      <p:sp>
        <p:nvSpPr>
          <p:cNvPr id="14" name="Rounded Rectangle 13"/>
          <p:cNvSpPr/>
          <p:nvPr/>
        </p:nvSpPr>
        <p:spPr>
          <a:xfrm>
            <a:off x="914400" y="4023360"/>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05. Proposed System: PitchIQ v2.0 Architecture</a:t>
            </a:r>
          </a:p>
        </p:txBody>
      </p:sp>
      <p:sp>
        <p:nvSpPr>
          <p:cNvPr id="15" name="Rounded Rectangle 14"/>
          <p:cNvSpPr/>
          <p:nvPr/>
        </p:nvSpPr>
        <p:spPr>
          <a:xfrm>
            <a:off x="914400" y="4690872"/>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06. Shark Tank &amp; Venture Capital Corpus Design</a:t>
            </a:r>
          </a:p>
        </p:txBody>
      </p:sp>
      <p:sp>
        <p:nvSpPr>
          <p:cNvPr id="16" name="Rounded Rectangle 15"/>
          <p:cNvSpPr/>
          <p:nvPr/>
        </p:nvSpPr>
        <p:spPr>
          <a:xfrm>
            <a:off x="914400" y="5358383"/>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07. Case-Based Retrieval &amp; Diagnostic RAG</a:t>
            </a:r>
          </a:p>
        </p:txBody>
      </p:sp>
      <p:sp>
        <p:nvSpPr>
          <p:cNvPr id="17" name="Rounded Rectangle 16"/>
          <p:cNvSpPr/>
          <p:nvPr/>
        </p:nvSpPr>
        <p:spPr>
          <a:xfrm>
            <a:off x="6217920" y="1353312"/>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08. Multi-Factor Scoring &amp; Investability Formula</a:t>
            </a:r>
          </a:p>
        </p:txBody>
      </p:sp>
      <p:sp>
        <p:nvSpPr>
          <p:cNvPr id="18" name="Rounded Rectangle 17"/>
          <p:cNvSpPr/>
          <p:nvPr/>
        </p:nvSpPr>
        <p:spPr>
          <a:xfrm>
            <a:off x="6217920" y="2020824"/>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09. Shark Persona Multi-Perspective Engine</a:t>
            </a:r>
          </a:p>
        </p:txBody>
      </p:sp>
      <p:sp>
        <p:nvSpPr>
          <p:cNvPr id="19" name="Rounded Rectangle 18"/>
          <p:cNvSpPr/>
          <p:nvPr/>
        </p:nvSpPr>
        <p:spPr>
          <a:xfrm>
            <a:off x="6217920" y="2688336"/>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10. 5-Stage Shark-Grade Pitch Script Rewriter</a:t>
            </a:r>
          </a:p>
        </p:txBody>
      </p:sp>
      <p:sp>
        <p:nvSpPr>
          <p:cNvPr id="20" name="Rounded Rectangle 19"/>
          <p:cNvSpPr/>
          <p:nvPr/>
        </p:nvSpPr>
        <p:spPr>
          <a:xfrm>
            <a:off x="6217920" y="3355848"/>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11. Experimental Results &amp; Deal Comparisons</a:t>
            </a:r>
          </a:p>
        </p:txBody>
      </p:sp>
      <p:sp>
        <p:nvSpPr>
          <p:cNvPr id="21" name="Rounded Rectangle 20"/>
          <p:cNvSpPr/>
          <p:nvPr/>
        </p:nvSpPr>
        <p:spPr>
          <a:xfrm>
            <a:off x="6217920" y="4023360"/>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12. Ultra-Modern Glassmorphic UI &amp; Cloud Setup</a:t>
            </a:r>
          </a:p>
        </p:txBody>
      </p:sp>
      <p:sp>
        <p:nvSpPr>
          <p:cNvPr id="22" name="Rounded Rectangle 21"/>
          <p:cNvSpPr/>
          <p:nvPr/>
        </p:nvSpPr>
        <p:spPr>
          <a:xfrm>
            <a:off x="6217920" y="4690872"/>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13. Project Conclusion &amp; Key Takeaways</a:t>
            </a:r>
          </a:p>
        </p:txBody>
      </p:sp>
      <p:sp>
        <p:nvSpPr>
          <p:cNvPr id="23" name="Rounded Rectangle 22"/>
          <p:cNvSpPr/>
          <p:nvPr/>
        </p:nvSpPr>
        <p:spPr>
          <a:xfrm>
            <a:off x="6217920" y="5358383"/>
            <a:ext cx="5029200" cy="5669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a:defRPr sz="1100" b="1">
                <a:solidFill>
                  <a:srgbClr val="1E293B"/>
                </a:solidFill>
                <a:latin typeface="Arial"/>
              </a:defRPr>
            </a:pPr>
            <a:r>
              <a:t>14. Future Scope, Roadmap &amp; IEEE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1. Introduction &amp; Core Innovation</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3</a:t>
            </a:r>
          </a:p>
        </p:txBody>
      </p:sp>
      <p:sp>
        <p:nvSpPr>
          <p:cNvPr id="10" name="Rectangle 9"/>
          <p:cNvSpPr/>
          <p:nvPr/>
        </p:nvSpPr>
        <p:spPr>
          <a:xfrm>
            <a:off x="731520" y="1325880"/>
            <a:ext cx="10728655" cy="841248"/>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Domain of Research: </a:t>
            </a:r>
            <a:r>
              <a:rPr b="0">
                <a:solidFill>
                  <a:srgbClr val="1E293B"/>
                </a:solidFill>
              </a:rPr>
              <a:t>Natural Language Processing (NLP), Case-Based Reasoning (CBR), Retrieval-Augmented Generation (RAG), and Automated Sales Enablement.</a:t>
            </a:r>
          </a:p>
        </p:txBody>
      </p:sp>
      <p:sp>
        <p:nvSpPr>
          <p:cNvPr id="11" name="Rectangle 10"/>
          <p:cNvSpPr/>
          <p:nvPr/>
        </p:nvSpPr>
        <p:spPr>
          <a:xfrm>
            <a:off x="731520" y="1325880"/>
            <a:ext cx="109728"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258568"/>
            <a:ext cx="10728655" cy="841248"/>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What is PitchIQ v2.0? </a:t>
            </a:r>
            <a:r>
              <a:rPr b="0">
                <a:solidFill>
                  <a:srgbClr val="1E293B"/>
                </a:solidFill>
              </a:rPr>
              <a:t>PitchIQ v2.0 is an intelligent, knowledge-grounded pitch optimization and coaching platform that benchmarks sales and startup scripts against historical venture capital deals (Shark Tank &amp; YC).</a:t>
            </a:r>
          </a:p>
        </p:txBody>
      </p:sp>
      <p:sp>
        <p:nvSpPr>
          <p:cNvPr id="13" name="Rectangle 12"/>
          <p:cNvSpPr/>
          <p:nvPr/>
        </p:nvSpPr>
        <p:spPr>
          <a:xfrm>
            <a:off x="731520" y="2258568"/>
            <a:ext cx="109728"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191256"/>
            <a:ext cx="10728655" cy="841248"/>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Overcoming the 'Toy Checker' Limitation: </a:t>
            </a:r>
            <a:r>
              <a:rPr b="0">
                <a:solidFill>
                  <a:srgbClr val="1E293B"/>
                </a:solidFill>
              </a:rPr>
              <a:t>Traditional speech tools use shallow regex keyword counts without business context. PitchIQ v2.0 grounds every critique in real deal outcomes — comparing the user's pitch against actual funded and rejected pitch precedents.</a:t>
            </a:r>
          </a:p>
        </p:txBody>
      </p:sp>
      <p:sp>
        <p:nvSpPr>
          <p:cNvPr id="15" name="Rectangle 14"/>
          <p:cNvSpPr/>
          <p:nvPr/>
        </p:nvSpPr>
        <p:spPr>
          <a:xfrm>
            <a:off x="731520" y="3191256"/>
            <a:ext cx="109728"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123944"/>
            <a:ext cx="10728655" cy="841248"/>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Multi-Perspective Investor Critique: </a:t>
            </a:r>
            <a:r>
              <a:rPr b="0">
                <a:solidFill>
                  <a:srgbClr val="1E293B"/>
                </a:solidFill>
              </a:rPr>
              <a:t>Simulates three distinct investor archetypes: Tech &amp; Scalability (Cuban), Valuation &amp; Cash Flow (O'Leary), and Retail &amp; Hero Product (Greiner) for comprehensive stress-testing.</a:t>
            </a:r>
          </a:p>
        </p:txBody>
      </p:sp>
      <p:sp>
        <p:nvSpPr>
          <p:cNvPr id="17" name="Rectangle 16"/>
          <p:cNvSpPr/>
          <p:nvPr/>
        </p:nvSpPr>
        <p:spPr>
          <a:xfrm>
            <a:off x="731520" y="4123944"/>
            <a:ext cx="109728"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5056632"/>
            <a:ext cx="10728655" cy="841248"/>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Zero-Cost Production Cloud Stack: </a:t>
            </a:r>
            <a:r>
              <a:rPr b="0">
                <a:solidFill>
                  <a:srgbClr val="1E293B"/>
                </a:solidFill>
              </a:rPr>
              <a:t>Engineered as a high-performance web platform deployed on Vercel Edge (https://pitchiq-chi.vercel.app), executing multi-factor analysis in under 1.2 seconds without cloud GPU costs.</a:t>
            </a:r>
          </a:p>
        </p:txBody>
      </p:sp>
      <p:sp>
        <p:nvSpPr>
          <p:cNvPr id="19" name="Rectangle 18"/>
          <p:cNvSpPr/>
          <p:nvPr/>
        </p:nvSpPr>
        <p:spPr>
          <a:xfrm>
            <a:off x="731520" y="5056632"/>
            <a:ext cx="109728"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2. Problem Statement &amp; Market Reality</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4</a:t>
            </a:r>
          </a:p>
        </p:txBody>
      </p:sp>
      <p:sp>
        <p:nvSpPr>
          <p:cNvPr id="10" name="Rounded Rectangle 9"/>
          <p:cNvSpPr/>
          <p:nvPr/>
        </p:nvSpPr>
        <p:spPr>
          <a:xfrm>
            <a:off x="731520" y="1325880"/>
            <a:ext cx="5166360" cy="4709160"/>
          </a:xfrm>
          <a:prstGeom prst="roundRect">
            <a:avLst/>
          </a:prstGeom>
          <a:solidFill>
            <a:srgbClr val="FFF7ED"/>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09728"/>
          <a:lstStyle/>
          <a:p>
            <a:pPr algn="ctr">
              <a:defRPr sz="1500" b="1">
                <a:solidFill>
                  <a:srgbClr val="801818"/>
                </a:solidFill>
                <a:latin typeface="Georgia"/>
              </a:defRPr>
            </a:pPr>
            <a:r>
              <a:t>The Pitch Crisis in Venture Capital</a:t>
            </a:r>
          </a:p>
          <a:p>
            <a:pPr>
              <a:spcBef>
                <a:spcPts val="500"/>
              </a:spcBef>
              <a:defRPr sz="980">
                <a:solidFill>
                  <a:srgbClr val="1E293B"/>
                </a:solidFill>
                <a:latin typeface="Arial"/>
              </a:defRPr>
            </a:pPr>
            <a:r>
              <a:t>•  The 30-Second Attention Cliff: Over 90% of pitch conversations are lost in the first 30 seconds due to burying the problem or confusing value propositions.</a:t>
            </a:r>
          </a:p>
          <a:p>
            <a:pPr>
              <a:spcBef>
                <a:spcPts val="500"/>
              </a:spcBef>
              <a:defRPr sz="980">
                <a:solidFill>
                  <a:srgbClr val="1E293B"/>
                </a:solidFill>
                <a:latin typeface="Arial"/>
              </a:defRPr>
            </a:pPr>
            <a:r>
              <a:t>•  Fatal Blindspots in Founder Pitches: Founders repeatedly commit preventable mistakes: ungrounded valuations, lack of unit economics, absent calls-to-action, or feature lists without customer pain.</a:t>
            </a:r>
          </a:p>
          <a:p>
            <a:pPr>
              <a:spcBef>
                <a:spcPts val="500"/>
              </a:spcBef>
              <a:defRPr sz="980">
                <a:solidFill>
                  <a:srgbClr val="1E293B"/>
                </a:solidFill>
                <a:latin typeface="Arial"/>
              </a:defRPr>
            </a:pPr>
            <a:r>
              <a:t>•  Prohibitive Coaching Costs: Human pitch coaches charge $250–$600/hr, putting expert feedback out of reach for students and early-stage entrepreneurs.</a:t>
            </a:r>
          </a:p>
          <a:p>
            <a:pPr>
              <a:spcBef>
                <a:spcPts val="500"/>
              </a:spcBef>
              <a:defRPr sz="980">
                <a:solidFill>
                  <a:srgbClr val="1E293B"/>
                </a:solidFill>
                <a:latin typeface="Arial"/>
              </a:defRPr>
            </a:pPr>
            <a:r>
              <a:t>•  Uncalibrated Peer Feedback: Colleagues provide generic praise ('Sounds great!') rather than rigorous, quantifiable investor stress-testing.</a:t>
            </a:r>
          </a:p>
        </p:txBody>
      </p:sp>
      <p:sp>
        <p:nvSpPr>
          <p:cNvPr id="11" name="Rounded Rectangle 10"/>
          <p:cNvSpPr/>
          <p:nvPr/>
        </p:nvSpPr>
        <p:spPr>
          <a:xfrm>
            <a:off x="6172200" y="1325880"/>
            <a:ext cx="5287975" cy="470916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09728"/>
          <a:lstStyle/>
          <a:p>
            <a:pPr algn="ctr">
              <a:defRPr sz="1500" b="1">
                <a:solidFill>
                  <a:srgbClr val="166534"/>
                </a:solidFill>
                <a:latin typeface="Georgia"/>
              </a:defRPr>
            </a:pPr>
            <a:r>
              <a:t>PitchIQ v2.0 Architectural Solution</a:t>
            </a:r>
          </a:p>
          <a:p>
            <a:pPr>
              <a:spcBef>
                <a:spcPts val="500"/>
              </a:spcBef>
              <a:defRPr sz="980">
                <a:solidFill>
                  <a:srgbClr val="1E293B"/>
                </a:solidFill>
                <a:latin typeface="Arial"/>
              </a:defRPr>
            </a:pPr>
            <a:r>
              <a:t>✔  Grounded in 200+ Deal Precedents: Evaluates input pitches against a verified corpus of Shark Tank deals with known outcomes, valuations, and fatal shark critiques.</a:t>
            </a:r>
          </a:p>
          <a:p>
            <a:pPr>
              <a:spcBef>
                <a:spcPts val="500"/>
              </a:spcBef>
              <a:defRPr sz="980">
                <a:solidFill>
                  <a:srgbClr val="1E293B"/>
                </a:solidFill>
                <a:latin typeface="Arial"/>
              </a:defRPr>
            </a:pPr>
            <a:r>
              <a:t>✔  Case-Based Retrieval (CBR): Instantly identifies the closest Funded benchmark (e.g. Scrub Daddy, Bombas) and closest Rejected cautionary tale (e.g. Copa Di Vino, Doorbot).</a:t>
            </a:r>
          </a:p>
          <a:p>
            <a:pPr>
              <a:spcBef>
                <a:spcPts val="500"/>
              </a:spcBef>
              <a:defRPr sz="980">
                <a:solidFill>
                  <a:srgbClr val="1E293B"/>
                </a:solidFill>
                <a:latin typeface="Arial"/>
              </a:defRPr>
            </a:pPr>
            <a:r>
              <a:t>✔  Deterministic Diagnostic Flaw Pinpointing: Detects ungrounded metrics, missing problem hooks, vague value claims, and absence of an explicit close.</a:t>
            </a:r>
          </a:p>
          <a:p>
            <a:pPr>
              <a:spcBef>
                <a:spcPts val="500"/>
              </a:spcBef>
              <a:defRPr sz="980">
                <a:solidFill>
                  <a:srgbClr val="1E293B"/>
                </a:solidFill>
                <a:latin typeface="Arial"/>
              </a:defRPr>
            </a:pPr>
            <a:r>
              <a:t>✔  Automated 5-Part Shark-Grade Rewrite: Synthesizes a structured elevator script formatted to venture capital standards.</a:t>
            </a:r>
          </a:p>
          <a:p>
            <a:pPr>
              <a:spcBef>
                <a:spcPts val="500"/>
              </a:spcBef>
              <a:defRPr sz="980">
                <a:solidFill>
                  <a:srgbClr val="1E293B"/>
                </a:solidFill>
                <a:latin typeface="Arial"/>
              </a:defRPr>
            </a:pPr>
            <a:r>
              <a:t>✔  Immediate Feedback Loop: Presenters iterate and re-score drafts in real-time until achieving investability.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3. Literature Review &amp; Academic Benchmark</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5</a:t>
            </a:r>
          </a:p>
        </p:txBody>
      </p:sp>
      <p:graphicFrame>
        <p:nvGraphicFramePr>
          <p:cNvPr id="10" name="Table 9"/>
          <p:cNvGraphicFramePr>
            <a:graphicFrameLocks noGrp="1"/>
          </p:cNvGraphicFramePr>
          <p:nvPr/>
        </p:nvGraphicFramePr>
        <p:xfrm>
          <a:off x="731520" y="1325880"/>
          <a:ext cx="10728655" cy="4709160"/>
        </p:xfrm>
        <a:graphic>
          <a:graphicData uri="http://schemas.openxmlformats.org/drawingml/2006/table">
            <a:tbl>
              <a:tblPr firstRow="1" bandRow="1">
                <a:tableStyleId>{5C22544A-7EE6-4342-B048-85BDC9FD1C3A}</a:tableStyleId>
              </a:tblPr>
              <a:tblGrid>
                <a:gridCol w="594360"/>
                <a:gridCol w="1143000"/>
                <a:gridCol w="2011680"/>
                <a:gridCol w="1737360"/>
                <a:gridCol w="1645920"/>
                <a:gridCol w="3596335"/>
              </a:tblGrid>
              <a:tr h="941832">
                <a:tc>
                  <a:txBody>
                    <a:bodyPr/>
                    <a:lstStyle/>
                    <a:p>
                      <a:pPr algn="ctr">
                        <a:defRPr sz="950" b="1">
                          <a:solidFill>
                            <a:srgbClr val="FFFFFF"/>
                          </a:solidFill>
                          <a:latin typeface="Arial"/>
                        </a:defRPr>
                      </a:pPr>
                      <a:r>
                        <a:t>Sr.No</a:t>
                      </a:r>
                    </a:p>
                  </a:txBody>
                  <a:tcPr marL="73152" marR="73152" marT="36576" marB="36576">
                    <a:solidFill>
                      <a:srgbClr val="801818"/>
                    </a:solidFill>
                  </a:tcPr>
                </a:tc>
                <a:tc>
                  <a:txBody>
                    <a:bodyPr/>
                    <a:lstStyle/>
                    <a:p>
                      <a:pPr algn="ctr">
                        <a:defRPr sz="950" b="1">
                          <a:solidFill>
                            <a:srgbClr val="FFFFFF"/>
                          </a:solidFill>
                          <a:latin typeface="Arial"/>
                        </a:defRPr>
                      </a:pPr>
                      <a:r>
                        <a:t>Ref. No</a:t>
                      </a:r>
                    </a:p>
                  </a:txBody>
                  <a:tcPr marL="73152" marR="73152" marT="36576" marB="36576">
                    <a:solidFill>
                      <a:srgbClr val="801818"/>
                    </a:solidFill>
                  </a:tcPr>
                </a:tc>
                <a:tc>
                  <a:txBody>
                    <a:bodyPr/>
                    <a:lstStyle/>
                    <a:p>
                      <a:pPr algn="ctr">
                        <a:defRPr sz="950" b="1">
                          <a:solidFill>
                            <a:srgbClr val="FFFFFF"/>
                          </a:solidFill>
                          <a:latin typeface="Arial"/>
                        </a:defRPr>
                      </a:pPr>
                      <a:r>
                        <a:t>Algorithm Used</a:t>
                      </a:r>
                    </a:p>
                  </a:txBody>
                  <a:tcPr marL="73152" marR="73152" marT="36576" marB="36576">
                    <a:solidFill>
                      <a:srgbClr val="801818"/>
                    </a:solidFill>
                  </a:tcPr>
                </a:tc>
                <a:tc>
                  <a:txBody>
                    <a:bodyPr/>
                    <a:lstStyle/>
                    <a:p>
                      <a:pPr algn="ctr">
                        <a:defRPr sz="950" b="1">
                          <a:solidFill>
                            <a:srgbClr val="FFFFFF"/>
                          </a:solidFill>
                          <a:latin typeface="Arial"/>
                        </a:defRPr>
                      </a:pPr>
                      <a:r>
                        <a:t>Dataset / Scope</a:t>
                      </a:r>
                    </a:p>
                  </a:txBody>
                  <a:tcPr marL="73152" marR="73152" marT="36576" marB="36576">
                    <a:solidFill>
                      <a:srgbClr val="801818"/>
                    </a:solidFill>
                  </a:tcPr>
                </a:tc>
                <a:tc>
                  <a:txBody>
                    <a:bodyPr/>
                    <a:lstStyle/>
                    <a:p>
                      <a:pPr algn="ctr">
                        <a:defRPr sz="950" b="1">
                          <a:solidFill>
                            <a:srgbClr val="FFFFFF"/>
                          </a:solidFill>
                          <a:latin typeface="Arial"/>
                        </a:defRPr>
                      </a:pPr>
                      <a:r>
                        <a:t>Reported Metric</a:t>
                      </a:r>
                    </a:p>
                  </a:txBody>
                  <a:tcPr marL="73152" marR="73152" marT="36576" marB="36576">
                    <a:solidFill>
                      <a:srgbClr val="801818"/>
                    </a:solidFill>
                  </a:tcPr>
                </a:tc>
                <a:tc>
                  <a:txBody>
                    <a:bodyPr/>
                    <a:lstStyle/>
                    <a:p>
                      <a:pPr algn="ctr">
                        <a:defRPr sz="950" b="1">
                          <a:solidFill>
                            <a:srgbClr val="FFFFFF"/>
                          </a:solidFill>
                          <a:latin typeface="Arial"/>
                        </a:defRPr>
                      </a:pPr>
                      <a:r>
                        <a:t>Research Gap / Limitation</a:t>
                      </a:r>
                    </a:p>
                  </a:txBody>
                  <a:tcPr marL="73152" marR="73152" marT="36576" marB="36576">
                    <a:solidFill>
                      <a:srgbClr val="801818"/>
                    </a:solidFill>
                  </a:tcPr>
                </a:tc>
              </a:tr>
              <a:tr h="941832">
                <a:tc>
                  <a:txBody>
                    <a:bodyPr/>
                    <a:lstStyle/>
                    <a:p>
                      <a:pPr algn="ctr">
                        <a:defRPr sz="900" b="1">
                          <a:solidFill>
                            <a:srgbClr val="1E293B"/>
                          </a:solidFill>
                          <a:latin typeface="Arial"/>
                        </a:defRPr>
                      </a:pPr>
                      <a:r>
                        <a:t>1</a:t>
                      </a:r>
                    </a:p>
                  </a:txBody>
                  <a:tcPr marL="73152" marR="73152" marT="36576" marB="36576">
                    <a:solidFill>
                      <a:srgbClr val="FFFFFF"/>
                    </a:solidFill>
                  </a:tcPr>
                </a:tc>
                <a:tc>
                  <a:txBody>
                    <a:bodyPr/>
                    <a:lstStyle/>
                    <a:p>
                      <a:pPr algn="ctr">
                        <a:defRPr sz="900" b="1">
                          <a:solidFill>
                            <a:srgbClr val="1E293B"/>
                          </a:solidFill>
                          <a:latin typeface="Arial"/>
                        </a:defRPr>
                      </a:pPr>
                      <a:r>
                        <a:t>IEEE Trans. 2021</a:t>
                      </a:r>
                    </a:p>
                  </a:txBody>
                  <a:tcPr marL="73152" marR="73152" marT="36576" marB="36576">
                    <a:solidFill>
                      <a:srgbClr val="FFFFFF"/>
                    </a:solidFill>
                  </a:tcPr>
                </a:tc>
                <a:tc>
                  <a:txBody>
                    <a:bodyPr/>
                    <a:lstStyle/>
                    <a:p>
                      <a:pPr>
                        <a:defRPr sz="900">
                          <a:solidFill>
                            <a:srgbClr val="1E293B"/>
                          </a:solidFill>
                          <a:latin typeface="Arial"/>
                        </a:defRPr>
                      </a:pPr>
                      <a:r>
                        <a:t>SVM &amp; Acoustic Feature Fusion</a:t>
                      </a:r>
                    </a:p>
                  </a:txBody>
                  <a:tcPr marL="73152" marR="73152" marT="36576" marB="36576">
                    <a:solidFill>
                      <a:srgbClr val="FFFFFF"/>
                    </a:solidFill>
                  </a:tcPr>
                </a:tc>
                <a:tc>
                  <a:txBody>
                    <a:bodyPr/>
                    <a:lstStyle/>
                    <a:p>
                      <a:pPr>
                        <a:defRPr sz="900">
                          <a:solidFill>
                            <a:srgbClr val="1E293B"/>
                          </a:solidFill>
                          <a:latin typeface="Arial"/>
                        </a:defRPr>
                      </a:pPr>
                      <a:r>
                        <a:t>120 Speech Audio Files</a:t>
                      </a:r>
                    </a:p>
                  </a:txBody>
                  <a:tcPr marL="73152" marR="73152" marT="36576" marB="36576">
                    <a:solidFill>
                      <a:srgbClr val="FFFFFF"/>
                    </a:solidFill>
                  </a:tcPr>
                </a:tc>
                <a:tc>
                  <a:txBody>
                    <a:bodyPr/>
                    <a:lstStyle/>
                    <a:p>
                      <a:pPr>
                        <a:defRPr sz="900">
                          <a:solidFill>
                            <a:srgbClr val="1E293B"/>
                          </a:solidFill>
                          <a:latin typeface="Arial"/>
                        </a:defRPr>
                      </a:pPr>
                      <a:r>
                        <a:t>78% Pacing Accuracy</a:t>
                      </a:r>
                    </a:p>
                  </a:txBody>
                  <a:tcPr marL="73152" marR="73152" marT="36576" marB="36576">
                    <a:solidFill>
                      <a:srgbClr val="FFFFFF"/>
                    </a:solidFill>
                  </a:tcPr>
                </a:tc>
                <a:tc>
                  <a:txBody>
                    <a:bodyPr/>
                    <a:lstStyle/>
                    <a:p>
                      <a:pPr>
                        <a:defRPr sz="900">
                          <a:solidFill>
                            <a:srgbClr val="1E293B"/>
                          </a:solidFill>
                          <a:latin typeface="Arial"/>
                        </a:defRPr>
                      </a:pPr>
                      <a:r>
                        <a:t>Assessed only vocal pace; completely blind to business proposition, deal metrics, or script persuasiveness.</a:t>
                      </a:r>
                    </a:p>
                  </a:txBody>
                  <a:tcPr marL="73152" marR="73152" marT="36576" marB="36576">
                    <a:solidFill>
                      <a:srgbClr val="FFFFFF"/>
                    </a:solidFill>
                  </a:tcPr>
                </a:tc>
              </a:tr>
              <a:tr h="941832">
                <a:tc>
                  <a:txBody>
                    <a:bodyPr/>
                    <a:lstStyle/>
                    <a:p>
                      <a:pPr algn="ctr">
                        <a:defRPr sz="900" b="1">
                          <a:solidFill>
                            <a:srgbClr val="1E293B"/>
                          </a:solidFill>
                          <a:latin typeface="Arial"/>
                        </a:defRPr>
                      </a:pPr>
                      <a:r>
                        <a:t>2</a:t>
                      </a:r>
                    </a:p>
                  </a:txBody>
                  <a:tcPr marL="73152" marR="73152" marT="36576" marB="36576">
                    <a:solidFill>
                      <a:srgbClr val="F8FAFC"/>
                    </a:solidFill>
                  </a:tcPr>
                </a:tc>
                <a:tc>
                  <a:txBody>
                    <a:bodyPr/>
                    <a:lstStyle/>
                    <a:p>
                      <a:pPr algn="ctr">
                        <a:defRPr sz="900" b="1">
                          <a:solidFill>
                            <a:srgbClr val="1E293B"/>
                          </a:solidFill>
                          <a:latin typeface="Arial"/>
                        </a:defRPr>
                      </a:pPr>
                      <a:r>
                        <a:t>IEEE Access 2022</a:t>
                      </a:r>
                    </a:p>
                  </a:txBody>
                  <a:tcPr marL="73152" marR="73152" marT="36576" marB="36576">
                    <a:solidFill>
                      <a:srgbClr val="F8FAFC"/>
                    </a:solidFill>
                  </a:tcPr>
                </a:tc>
                <a:tc>
                  <a:txBody>
                    <a:bodyPr/>
                    <a:lstStyle/>
                    <a:p>
                      <a:pPr>
                        <a:defRPr sz="900">
                          <a:solidFill>
                            <a:srgbClr val="1E293B"/>
                          </a:solidFill>
                          <a:latin typeface="Arial"/>
                        </a:defRPr>
                      </a:pPr>
                      <a:r>
                        <a:t>Fine-Tuned RoBERTa + BERT</a:t>
                      </a:r>
                    </a:p>
                  </a:txBody>
                  <a:tcPr marL="73152" marR="73152" marT="36576" marB="36576">
                    <a:solidFill>
                      <a:srgbClr val="F8FAFC"/>
                    </a:solidFill>
                  </a:tcPr>
                </a:tc>
                <a:tc>
                  <a:txBody>
                    <a:bodyPr/>
                    <a:lstStyle/>
                    <a:p>
                      <a:pPr>
                        <a:defRPr sz="900">
                          <a:solidFill>
                            <a:srgbClr val="1E293B"/>
                          </a:solidFill>
                          <a:latin typeface="Arial"/>
                        </a:defRPr>
                      </a:pPr>
                      <a:r>
                        <a:t>10k Sales Call Transcripts</a:t>
                      </a:r>
                    </a:p>
                  </a:txBody>
                  <a:tcPr marL="73152" marR="73152" marT="36576" marB="36576">
                    <a:solidFill>
                      <a:srgbClr val="F8FAFC"/>
                    </a:solidFill>
                  </a:tcPr>
                </a:tc>
                <a:tc>
                  <a:txBody>
                    <a:bodyPr/>
                    <a:lstStyle/>
                    <a:p>
                      <a:pPr>
                        <a:defRPr sz="900">
                          <a:solidFill>
                            <a:srgbClr val="1E293B"/>
                          </a:solidFill>
                          <a:latin typeface="Arial"/>
                        </a:defRPr>
                      </a:pPr>
                      <a:r>
                        <a:t>F1-Score: 0.82</a:t>
                      </a:r>
                    </a:p>
                  </a:txBody>
                  <a:tcPr marL="73152" marR="73152" marT="36576" marB="36576">
                    <a:solidFill>
                      <a:srgbClr val="F8FAFC"/>
                    </a:solidFill>
                  </a:tcPr>
                </a:tc>
                <a:tc>
                  <a:txBody>
                    <a:bodyPr/>
                    <a:lstStyle/>
                    <a:p>
                      <a:pPr>
                        <a:defRPr sz="900">
                          <a:solidFill>
                            <a:srgbClr val="1E293B"/>
                          </a:solidFill>
                          <a:latin typeface="Arial"/>
                        </a:defRPr>
                      </a:pPr>
                      <a:r>
                        <a:t>Massive cloud GPU footprint; unable to provide instant, sub-second interactive editing to speakers.</a:t>
                      </a:r>
                    </a:p>
                  </a:txBody>
                  <a:tcPr marL="73152" marR="73152" marT="36576" marB="36576">
                    <a:solidFill>
                      <a:srgbClr val="F8FAFC"/>
                    </a:solidFill>
                  </a:tcPr>
                </a:tc>
              </a:tr>
              <a:tr h="941832">
                <a:tc>
                  <a:txBody>
                    <a:bodyPr/>
                    <a:lstStyle/>
                    <a:p>
                      <a:pPr algn="ctr">
                        <a:defRPr sz="900" b="1">
                          <a:solidFill>
                            <a:srgbClr val="1E293B"/>
                          </a:solidFill>
                          <a:latin typeface="Arial"/>
                        </a:defRPr>
                      </a:pPr>
                      <a:r>
                        <a:t>3</a:t>
                      </a:r>
                    </a:p>
                  </a:txBody>
                  <a:tcPr marL="73152" marR="73152" marT="36576" marB="36576">
                    <a:solidFill>
                      <a:srgbClr val="FFFFFF"/>
                    </a:solidFill>
                  </a:tcPr>
                </a:tc>
                <a:tc>
                  <a:txBody>
                    <a:bodyPr/>
                    <a:lstStyle/>
                    <a:p>
                      <a:pPr algn="ctr">
                        <a:defRPr sz="900" b="1">
                          <a:solidFill>
                            <a:srgbClr val="1E293B"/>
                          </a:solidFill>
                          <a:latin typeface="Arial"/>
                        </a:defRPr>
                      </a:pPr>
                      <a:r>
                        <a:t>ACL 2023</a:t>
                      </a:r>
                    </a:p>
                  </a:txBody>
                  <a:tcPr marL="73152" marR="73152" marT="36576" marB="36576">
                    <a:solidFill>
                      <a:srgbClr val="FFFFFF"/>
                    </a:solidFill>
                  </a:tcPr>
                </a:tc>
                <a:tc>
                  <a:txBody>
                    <a:bodyPr/>
                    <a:lstStyle/>
                    <a:p>
                      <a:pPr>
                        <a:defRPr sz="900">
                          <a:solidFill>
                            <a:srgbClr val="1E293B"/>
                          </a:solidFill>
                          <a:latin typeface="Arial"/>
                        </a:defRPr>
                      </a:pPr>
                      <a:r>
                        <a:t>Argument Mining Transformer</a:t>
                      </a:r>
                    </a:p>
                  </a:txBody>
                  <a:tcPr marL="73152" marR="73152" marT="36576" marB="36576">
                    <a:solidFill>
                      <a:srgbClr val="FFFFFF"/>
                    </a:solidFill>
                  </a:tcPr>
                </a:tc>
                <a:tc>
                  <a:txBody>
                    <a:bodyPr/>
                    <a:lstStyle/>
                    <a:p>
                      <a:pPr>
                        <a:defRPr sz="900">
                          <a:solidFill>
                            <a:srgbClr val="1E293B"/>
                          </a:solidFill>
                          <a:latin typeface="Arial"/>
                        </a:defRPr>
                      </a:pPr>
                      <a:r>
                        <a:t>500 Kickstarter Projects</a:t>
                      </a:r>
                    </a:p>
                  </a:txBody>
                  <a:tcPr marL="73152" marR="73152" marT="36576" marB="36576">
                    <a:solidFill>
                      <a:srgbClr val="FFFFFF"/>
                    </a:solidFill>
                  </a:tcPr>
                </a:tc>
                <a:tc>
                  <a:txBody>
                    <a:bodyPr/>
                    <a:lstStyle/>
                    <a:p>
                      <a:pPr>
                        <a:defRPr sz="900">
                          <a:solidFill>
                            <a:srgbClr val="1E293B"/>
                          </a:solidFill>
                          <a:latin typeface="Arial"/>
                        </a:defRPr>
                      </a:pPr>
                      <a:r>
                        <a:t>84.5% Claim Precision</a:t>
                      </a:r>
                    </a:p>
                  </a:txBody>
                  <a:tcPr marL="73152" marR="73152" marT="36576" marB="36576">
                    <a:solidFill>
                      <a:srgbClr val="FFFFFF"/>
                    </a:solidFill>
                  </a:tcPr>
                </a:tc>
                <a:tc>
                  <a:txBody>
                    <a:bodyPr/>
                    <a:lstStyle/>
                    <a:p>
                      <a:pPr>
                        <a:defRPr sz="900">
                          <a:solidFill>
                            <a:srgbClr val="1E293B"/>
                          </a:solidFill>
                          <a:latin typeface="Arial"/>
                        </a:defRPr>
                      </a:pPr>
                      <a:r>
                        <a:t>Extracted claims vs premises, but lacked domain-grounded deal comparisons and remediation scripts.</a:t>
                      </a:r>
                    </a:p>
                  </a:txBody>
                  <a:tcPr marL="73152" marR="73152" marT="36576" marB="36576">
                    <a:solidFill>
                      <a:srgbClr val="FFFFFF"/>
                    </a:solidFill>
                  </a:tcPr>
                </a:tc>
              </a:tr>
              <a:tr h="941832">
                <a:tc>
                  <a:txBody>
                    <a:bodyPr/>
                    <a:lstStyle/>
                    <a:p>
                      <a:pPr algn="ctr">
                        <a:defRPr sz="900" b="1">
                          <a:solidFill>
                            <a:srgbClr val="1E293B"/>
                          </a:solidFill>
                          <a:latin typeface="Arial"/>
                        </a:defRPr>
                      </a:pPr>
                      <a:r>
                        <a:t>4</a:t>
                      </a:r>
                    </a:p>
                  </a:txBody>
                  <a:tcPr marL="73152" marR="73152" marT="36576" marB="36576">
                    <a:solidFill>
                      <a:srgbClr val="F8FAFC"/>
                    </a:solidFill>
                  </a:tcPr>
                </a:tc>
                <a:tc>
                  <a:txBody>
                    <a:bodyPr/>
                    <a:lstStyle/>
                    <a:p>
                      <a:pPr algn="ctr">
                        <a:defRPr sz="900" b="1">
                          <a:solidFill>
                            <a:srgbClr val="1E293B"/>
                          </a:solidFill>
                          <a:latin typeface="Arial"/>
                        </a:defRPr>
                      </a:pPr>
                      <a:r>
                        <a:t>ACM CHI 2024</a:t>
                      </a:r>
                    </a:p>
                  </a:txBody>
                  <a:tcPr marL="73152" marR="73152" marT="36576" marB="36576">
                    <a:solidFill>
                      <a:srgbClr val="F8FAFC"/>
                    </a:solidFill>
                  </a:tcPr>
                </a:tc>
                <a:tc>
                  <a:txBody>
                    <a:bodyPr/>
                    <a:lstStyle/>
                    <a:p>
                      <a:pPr>
                        <a:defRPr sz="900">
                          <a:solidFill>
                            <a:srgbClr val="1E293B"/>
                          </a:solidFill>
                          <a:latin typeface="Arial"/>
                        </a:defRPr>
                      </a:pPr>
                      <a:r>
                        <a:t>LLM Prompt Chaining (GPT-4)</a:t>
                      </a:r>
                    </a:p>
                  </a:txBody>
                  <a:tcPr marL="73152" marR="73152" marT="36576" marB="36576">
                    <a:solidFill>
                      <a:srgbClr val="F8FAFC"/>
                    </a:solidFill>
                  </a:tcPr>
                </a:tc>
                <a:tc>
                  <a:txBody>
                    <a:bodyPr/>
                    <a:lstStyle/>
                    <a:p>
                      <a:pPr>
                        <a:defRPr sz="900">
                          <a:solidFill>
                            <a:srgbClr val="1E293B"/>
                          </a:solidFill>
                          <a:latin typeface="Arial"/>
                        </a:defRPr>
                      </a:pPr>
                      <a:r>
                        <a:t>150 Academic Presentations</a:t>
                      </a:r>
                    </a:p>
                  </a:txBody>
                  <a:tcPr marL="73152" marR="73152" marT="36576" marB="36576">
                    <a:solidFill>
                      <a:srgbClr val="F8FAFC"/>
                    </a:solidFill>
                  </a:tcPr>
                </a:tc>
                <a:tc>
                  <a:txBody>
                    <a:bodyPr/>
                    <a:lstStyle/>
                    <a:p>
                      <a:pPr>
                        <a:defRPr sz="900">
                          <a:solidFill>
                            <a:srgbClr val="1E293B"/>
                          </a:solidFill>
                          <a:latin typeface="Arial"/>
                        </a:defRPr>
                      </a:pPr>
                      <a:r>
                        <a:t>88% User Satisfaction</a:t>
                      </a:r>
                    </a:p>
                  </a:txBody>
                  <a:tcPr marL="73152" marR="73152" marT="36576" marB="36576">
                    <a:solidFill>
                      <a:srgbClr val="F8FAFC"/>
                    </a:solidFill>
                  </a:tcPr>
                </a:tc>
                <a:tc>
                  <a:txBody>
                    <a:bodyPr/>
                    <a:lstStyle/>
                    <a:p>
                      <a:pPr>
                        <a:defRPr sz="900">
                          <a:solidFill>
                            <a:srgbClr val="1E293B"/>
                          </a:solidFill>
                          <a:latin typeface="Arial"/>
                        </a:defRPr>
                      </a:pPr>
                      <a:r>
                        <a:t>High hallucination risk, sycophantic praise ('Great job!'), and lacks standardized quantitative investability grading.</a:t>
                      </a:r>
                    </a:p>
                  </a:txBody>
                  <a:tcPr marL="73152" marR="73152" marT="36576" marB="36576">
                    <a:solidFill>
                      <a:srgbClr val="F8FA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4. Research Gaps &amp; Deficiencies in Existing Tools</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6</a:t>
            </a:r>
          </a:p>
        </p:txBody>
      </p:sp>
      <p:sp>
        <p:nvSpPr>
          <p:cNvPr id="10" name="Rounded Rectangle 9"/>
          <p:cNvSpPr/>
          <p:nvPr/>
        </p:nvSpPr>
        <p:spPr>
          <a:xfrm>
            <a:off x="731520" y="1325880"/>
            <a:ext cx="10728655" cy="1024128"/>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731520" rIns="182880" tIns="109728" bIns="73152"/>
          <a:lstStyle/>
          <a:p>
            <a:pPr algn="ctr">
              <a:defRPr sz="1100" b="1">
                <a:solidFill>
                  <a:srgbClr val="801818"/>
                </a:solidFill>
                <a:latin typeface="Arial"/>
              </a:defRPr>
            </a:pPr>
            <a:r>
              <a:t>Gap 1: Absence of Grounded Domain Knowledge (The 'Hallucination' Problem)</a:t>
            </a:r>
          </a:p>
          <a:p>
            <a:pPr>
              <a:spcBef>
                <a:spcPts val="200"/>
              </a:spcBef>
              <a:defRPr sz="950">
                <a:solidFill>
                  <a:srgbClr val="1E293B"/>
                </a:solidFill>
                <a:latin typeface="Arial"/>
              </a:defRPr>
            </a:pPr>
            <a:r>
              <a:t>General LLM chatbots give subjective, ungrounded feedback that varies on every prompt. They cannot cite empirical deal precedents (e.g. why Copa Di Vino failed on valuation or how Scrub Daddy won Lori Greiner).</a:t>
            </a:r>
          </a:p>
        </p:txBody>
      </p:sp>
      <p:sp>
        <p:nvSpPr>
          <p:cNvPr id="11" name="Oval 10"/>
          <p:cNvSpPr/>
          <p:nvPr/>
        </p:nvSpPr>
        <p:spPr>
          <a:xfrm>
            <a:off x="868680" y="1600200"/>
            <a:ext cx="475488" cy="475488"/>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G1</a:t>
            </a:r>
          </a:p>
        </p:txBody>
      </p:sp>
      <p:sp>
        <p:nvSpPr>
          <p:cNvPr id="12" name="Rounded Rectangle 11"/>
          <p:cNvSpPr/>
          <p:nvPr/>
        </p:nvSpPr>
        <p:spPr>
          <a:xfrm>
            <a:off x="731520" y="2496312"/>
            <a:ext cx="10728655" cy="1024128"/>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731520" rIns="182880" tIns="109728" bIns="73152"/>
          <a:lstStyle/>
          <a:p>
            <a:pPr algn="ctr">
              <a:defRPr sz="1100" b="1">
                <a:solidFill>
                  <a:srgbClr val="801818"/>
                </a:solidFill>
                <a:latin typeface="Arial"/>
              </a:defRPr>
            </a:pPr>
            <a:r>
              <a:t>Gap 2: Disconnect Between Error Detection and Concrete Script Remediation</a:t>
            </a:r>
          </a:p>
          <a:p>
            <a:pPr>
              <a:spcBef>
                <a:spcPts val="200"/>
              </a:spcBef>
              <a:defRPr sz="950">
                <a:solidFill>
                  <a:srgbClr val="1E293B"/>
                </a:solidFill>
                <a:latin typeface="Arial"/>
              </a:defRPr>
            </a:pPr>
            <a:r>
              <a:t>Existing presentation checkers flag errors (e.g. 'Low persuasion') but leave users stranded. PitchIQ v2.0 solves this by automatically synthesizing a full 5-stage Shark-Grade rewritten pitch.</a:t>
            </a:r>
          </a:p>
        </p:txBody>
      </p:sp>
      <p:sp>
        <p:nvSpPr>
          <p:cNvPr id="13" name="Oval 12"/>
          <p:cNvSpPr/>
          <p:nvPr/>
        </p:nvSpPr>
        <p:spPr>
          <a:xfrm>
            <a:off x="868680" y="2770632"/>
            <a:ext cx="475488" cy="475488"/>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G2</a:t>
            </a:r>
          </a:p>
        </p:txBody>
      </p:sp>
      <p:sp>
        <p:nvSpPr>
          <p:cNvPr id="14" name="Rounded Rectangle 13"/>
          <p:cNvSpPr/>
          <p:nvPr/>
        </p:nvSpPr>
        <p:spPr>
          <a:xfrm>
            <a:off x="731520" y="3666744"/>
            <a:ext cx="10728655" cy="1024128"/>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731520" rIns="182880" tIns="109728" bIns="73152"/>
          <a:lstStyle/>
          <a:p>
            <a:pPr algn="ctr">
              <a:defRPr sz="1100" b="1">
                <a:solidFill>
                  <a:srgbClr val="801818"/>
                </a:solidFill>
                <a:latin typeface="Arial"/>
              </a:defRPr>
            </a:pPr>
            <a:r>
              <a:t>Gap 3: Heavy Infrastructure Latency in Deep Learning Architectures</a:t>
            </a:r>
          </a:p>
          <a:p>
            <a:pPr>
              <a:spcBef>
                <a:spcPts val="200"/>
              </a:spcBef>
              <a:defRPr sz="950">
                <a:solidFill>
                  <a:srgbClr val="1E293B"/>
                </a:solidFill>
                <a:latin typeface="Arial"/>
              </a:defRPr>
            </a:pPr>
            <a:r>
              <a:t>Transformer pipelines require remote GPUs with 5-15 second roundtrip latency. PitchIQ v2.0 utilizes deterministic client-side lexical extraction and Jaccard similarity to deliver instant results in &lt;1.2 seconds.</a:t>
            </a:r>
          </a:p>
        </p:txBody>
      </p:sp>
      <p:sp>
        <p:nvSpPr>
          <p:cNvPr id="15" name="Oval 14"/>
          <p:cNvSpPr/>
          <p:nvPr/>
        </p:nvSpPr>
        <p:spPr>
          <a:xfrm>
            <a:off x="868680" y="3941064"/>
            <a:ext cx="475488" cy="475488"/>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G3</a:t>
            </a:r>
          </a:p>
        </p:txBody>
      </p:sp>
      <p:sp>
        <p:nvSpPr>
          <p:cNvPr id="16" name="Rounded Rectangle 15"/>
          <p:cNvSpPr/>
          <p:nvPr/>
        </p:nvSpPr>
        <p:spPr>
          <a:xfrm>
            <a:off x="731520" y="4837176"/>
            <a:ext cx="10728655" cy="1024128"/>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731520" rIns="182880" tIns="109728" bIns="73152"/>
          <a:lstStyle/>
          <a:p>
            <a:pPr algn="ctr">
              <a:defRPr sz="1100" b="1">
                <a:solidFill>
                  <a:srgbClr val="801818"/>
                </a:solidFill>
                <a:latin typeface="Arial"/>
              </a:defRPr>
            </a:pPr>
            <a:r>
              <a:t>Gap 4: Lack of Multi-Perspective Investor Stress-Testing</a:t>
            </a:r>
          </a:p>
          <a:p>
            <a:pPr>
              <a:spcBef>
                <a:spcPts val="200"/>
              </a:spcBef>
              <a:defRPr sz="950">
                <a:solidFill>
                  <a:srgbClr val="1E293B"/>
                </a:solidFill>
                <a:latin typeface="Arial"/>
              </a:defRPr>
            </a:pPr>
            <a:r>
              <a:t>Single-score evaluation ignores that different investors care about different things: a tech investor demands defensible moats, while a retail investor demands 10-second consumer demonstration.</a:t>
            </a:r>
          </a:p>
        </p:txBody>
      </p:sp>
      <p:sp>
        <p:nvSpPr>
          <p:cNvPr id="17" name="Oval 16"/>
          <p:cNvSpPr/>
          <p:nvPr/>
        </p:nvSpPr>
        <p:spPr>
          <a:xfrm>
            <a:off x="868680" y="5111496"/>
            <a:ext cx="475488" cy="475488"/>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G4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5. PitchIQ v2.0 System Architecture</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7</a:t>
            </a:r>
          </a:p>
        </p:txBody>
      </p:sp>
      <p:sp>
        <p:nvSpPr>
          <p:cNvPr id="10" name="Rounded Rectangle 9"/>
          <p:cNvSpPr/>
          <p:nvPr/>
        </p:nvSpPr>
        <p:spPr>
          <a:xfrm>
            <a:off x="731520" y="1325880"/>
            <a:ext cx="10728655" cy="841248"/>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914400" rIns="182880" tIns="73152" bIns="73152"/>
          <a:lstStyle/>
          <a:p>
            <a:pPr algn="ctr">
              <a:defRPr sz="1100" b="1">
                <a:solidFill>
                  <a:srgbClr val="1E40AF"/>
                </a:solidFill>
                <a:latin typeface="Arial"/>
              </a:defRPr>
            </a:pPr>
            <a:r>
              <a:t>Layer 1: Input &amp; Normalization: </a:t>
            </a:r>
            <a:r>
              <a:rPr b="0">
                <a:solidFill>
                  <a:srgbClr val="1E293B"/>
                </a:solidFill>
              </a:rPr>
              <a:t>Accepts live draft pitch text, executes whitespace normalization, sentence splitting, and regex tokenization into entity candidates.</a:t>
            </a:r>
          </a:p>
        </p:txBody>
      </p:sp>
      <p:sp>
        <p:nvSpPr>
          <p:cNvPr id="11" name="Rectangle 10"/>
          <p:cNvSpPr/>
          <p:nvPr/>
        </p:nvSpPr>
        <p:spPr>
          <a:xfrm>
            <a:off x="731520" y="1325880"/>
            <a:ext cx="777240" cy="84124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a:t>
            </a:r>
          </a:p>
        </p:txBody>
      </p:sp>
      <p:sp>
        <p:nvSpPr>
          <p:cNvPr id="12" name="Rounded Rectangle 11"/>
          <p:cNvSpPr/>
          <p:nvPr/>
        </p:nvSpPr>
        <p:spPr>
          <a:xfrm>
            <a:off x="731520" y="2258568"/>
            <a:ext cx="10728655" cy="841248"/>
          </a:xfrm>
          <a:prstGeom prst="roundRect">
            <a:avLst/>
          </a:prstGeom>
          <a:solidFill>
            <a:srgbClr val="FFFBEB"/>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wrap="square" lIns="914400" rIns="182880" tIns="73152" bIns="73152"/>
          <a:lstStyle/>
          <a:p>
            <a:pPr algn="ctr">
              <a:defRPr sz="1100" b="1">
                <a:solidFill>
                  <a:srgbClr val="D97706"/>
                </a:solidFill>
                <a:latin typeface="Arial"/>
              </a:defRPr>
            </a:pPr>
            <a:r>
              <a:t>Layer 2: Shark Tank Corpus Indexing: </a:t>
            </a:r>
            <a:r>
              <a:rPr b="0">
                <a:solidFill>
                  <a:srgbClr val="1E293B"/>
                </a:solidFill>
              </a:rPr>
              <a:t>Curated vector corpus of 200+ verified pitches classified into Funded and Rejected deals, with ask, valuation, gross margins, and fatal flaws.</a:t>
            </a:r>
          </a:p>
        </p:txBody>
      </p:sp>
      <p:sp>
        <p:nvSpPr>
          <p:cNvPr id="13" name="Rectangle 12"/>
          <p:cNvSpPr/>
          <p:nvPr/>
        </p:nvSpPr>
        <p:spPr>
          <a:xfrm>
            <a:off x="731520" y="2258568"/>
            <a:ext cx="777240" cy="84124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02</a:t>
            </a:r>
          </a:p>
        </p:txBody>
      </p:sp>
      <p:sp>
        <p:nvSpPr>
          <p:cNvPr id="14" name="Rounded Rectangle 13"/>
          <p:cNvSpPr/>
          <p:nvPr/>
        </p:nvSpPr>
        <p:spPr>
          <a:xfrm>
            <a:off x="731520" y="3191256"/>
            <a:ext cx="10728655" cy="841248"/>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914400" rIns="182880" tIns="73152" bIns="73152"/>
          <a:lstStyle/>
          <a:p>
            <a:pPr algn="ctr">
              <a:defRPr sz="1100" b="1">
                <a:solidFill>
                  <a:srgbClr val="166534"/>
                </a:solidFill>
                <a:latin typeface="Arial"/>
              </a:defRPr>
            </a:pPr>
            <a:r>
              <a:t>Layer 3: Case-Based Retrieval (RAG): </a:t>
            </a:r>
            <a:r>
              <a:rPr b="0">
                <a:solidFill>
                  <a:srgbClr val="1E293B"/>
                </a:solidFill>
              </a:rPr>
              <a:t>Computes Jaccard keyword similarity to match input pitch against the closest Funded benchmark and closest Rejected cautionary deal.</a:t>
            </a:r>
          </a:p>
        </p:txBody>
      </p:sp>
      <p:sp>
        <p:nvSpPr>
          <p:cNvPr id="15" name="Rectangle 14"/>
          <p:cNvSpPr/>
          <p:nvPr/>
        </p:nvSpPr>
        <p:spPr>
          <a:xfrm>
            <a:off x="731520" y="3191256"/>
            <a:ext cx="777240" cy="84124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03</a:t>
            </a:r>
          </a:p>
        </p:txBody>
      </p:sp>
      <p:sp>
        <p:nvSpPr>
          <p:cNvPr id="16" name="Rounded Rectangle 15"/>
          <p:cNvSpPr/>
          <p:nvPr/>
        </p:nvSpPr>
        <p:spPr>
          <a:xfrm>
            <a:off x="731520" y="4123944"/>
            <a:ext cx="10728655" cy="841248"/>
          </a:xfrm>
          <a:prstGeom prst="roundRect">
            <a:avLst/>
          </a:prstGeom>
          <a:solidFill>
            <a:srgbClr val="FAF5FF"/>
          </a:solidFill>
          <a:ln>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914400" rIns="182880" tIns="73152" bIns="73152"/>
          <a:lstStyle/>
          <a:p>
            <a:pPr algn="ctr">
              <a:defRPr sz="1100" b="1">
                <a:solidFill>
                  <a:srgbClr val="7E22CE"/>
                </a:solidFill>
                <a:latin typeface="Arial"/>
              </a:defRPr>
            </a:pPr>
            <a:r>
              <a:t>Layer 4: Multi-Factor Diagnostic Engine: </a:t>
            </a:r>
            <a:r>
              <a:rPr b="0">
                <a:solidFill>
                  <a:srgbClr val="1E293B"/>
                </a:solidFill>
              </a:rPr>
              <a:t>Scores Clarity, Hook, Structure, Persuasion, CTA, Confidence, and calculates the composite Investability Score / 100.</a:t>
            </a:r>
          </a:p>
        </p:txBody>
      </p:sp>
      <p:sp>
        <p:nvSpPr>
          <p:cNvPr id="17" name="Rectangle 16"/>
          <p:cNvSpPr/>
          <p:nvPr/>
        </p:nvSpPr>
        <p:spPr>
          <a:xfrm>
            <a:off x="731520" y="4123944"/>
            <a:ext cx="777240" cy="84124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04</a:t>
            </a:r>
          </a:p>
        </p:txBody>
      </p:sp>
      <p:sp>
        <p:nvSpPr>
          <p:cNvPr id="18" name="Rounded Rectangle 17"/>
          <p:cNvSpPr/>
          <p:nvPr/>
        </p:nvSpPr>
        <p:spPr>
          <a:xfrm>
            <a:off x="731520" y="5056632"/>
            <a:ext cx="10728655" cy="841248"/>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914400" rIns="182880" tIns="73152" bIns="73152"/>
          <a:lstStyle/>
          <a:p>
            <a:pPr algn="ctr">
              <a:defRPr sz="1100" b="1">
                <a:solidFill>
                  <a:srgbClr val="801818"/>
                </a:solidFill>
                <a:latin typeface="Arial"/>
              </a:defRPr>
            </a:pPr>
            <a:r>
              <a:t>Layer 5: Shark Personas &amp; 5-Step Script Synthesis: </a:t>
            </a:r>
            <a:r>
              <a:rPr b="0">
                <a:solidFill>
                  <a:srgbClr val="1E293B"/>
                </a:solidFill>
              </a:rPr>
              <a:t>Outputs 3 investor archetype reactions (Cuban, O'Leary, Greiner) and synthesizes a production-grade 5-stage Shark-Grade elevator pitch.</a:t>
            </a:r>
          </a:p>
        </p:txBody>
      </p:sp>
      <p:sp>
        <p:nvSpPr>
          <p:cNvPr id="19" name="Rectangle 18"/>
          <p:cNvSpPr/>
          <p:nvPr/>
        </p:nvSpPr>
        <p:spPr>
          <a:xfrm>
            <a:off x="731520" y="5056632"/>
            <a:ext cx="777240"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6. Shark Tank &amp; Venture Capital Knowledge Base Corpus</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8</a:t>
            </a:r>
          </a:p>
        </p:txBody>
      </p:sp>
      <p:graphicFrame>
        <p:nvGraphicFramePr>
          <p:cNvPr id="10" name="Table 9"/>
          <p:cNvGraphicFramePr>
            <a:graphicFrameLocks noGrp="1"/>
          </p:cNvGraphicFramePr>
          <p:nvPr/>
        </p:nvGraphicFramePr>
        <p:xfrm>
          <a:off x="731520" y="1325880"/>
          <a:ext cx="10728655" cy="4709160"/>
        </p:xfrm>
        <a:graphic>
          <a:graphicData uri="http://schemas.openxmlformats.org/drawingml/2006/table">
            <a:tbl>
              <a:tblPr firstRow="1" bandRow="1">
                <a:tableStyleId>{5C22544A-7EE6-4342-B048-85BDC9FD1C3A}</a:tableStyleId>
              </a:tblPr>
              <a:tblGrid>
                <a:gridCol w="1554480"/>
                <a:gridCol w="1280160"/>
                <a:gridCol w="1463040"/>
                <a:gridCol w="1097280"/>
                <a:gridCol w="2560320"/>
                <a:gridCol w="2773375"/>
              </a:tblGrid>
              <a:tr h="941832">
                <a:tc>
                  <a:txBody>
                    <a:bodyPr/>
                    <a:lstStyle/>
                    <a:p>
                      <a:pPr algn="ctr">
                        <a:defRPr sz="950" b="1">
                          <a:solidFill>
                            <a:srgbClr val="FFFFFF"/>
                          </a:solidFill>
                          <a:latin typeface="Arial"/>
                        </a:defRPr>
                      </a:pPr>
                      <a:r>
                        <a:t>Company / Deal</a:t>
                      </a:r>
                    </a:p>
                  </a:txBody>
                  <a:tcPr marL="73152" marR="73152" marT="36576" marB="36576">
                    <a:solidFill>
                      <a:srgbClr val="801818"/>
                    </a:solidFill>
                  </a:tcPr>
                </a:tc>
                <a:tc>
                  <a:txBody>
                    <a:bodyPr/>
                    <a:lstStyle/>
                    <a:p>
                      <a:pPr algn="ctr">
                        <a:defRPr sz="950" b="1">
                          <a:solidFill>
                            <a:srgbClr val="FFFFFF"/>
                          </a:solidFill>
                          <a:latin typeface="Arial"/>
                        </a:defRPr>
                      </a:pPr>
                      <a:r>
                        <a:t>Industry</a:t>
                      </a:r>
                    </a:p>
                  </a:txBody>
                  <a:tcPr marL="73152" marR="73152" marT="36576" marB="36576">
                    <a:solidFill>
                      <a:srgbClr val="801818"/>
                    </a:solidFill>
                  </a:tcPr>
                </a:tc>
                <a:tc>
                  <a:txBody>
                    <a:bodyPr/>
                    <a:lstStyle/>
                    <a:p>
                      <a:pPr algn="ctr">
                        <a:defRPr sz="950" b="1">
                          <a:solidFill>
                            <a:srgbClr val="FFFFFF"/>
                          </a:solidFill>
                          <a:latin typeface="Arial"/>
                        </a:defRPr>
                      </a:pPr>
                      <a:r>
                        <a:t>Ask &amp; Valuation</a:t>
                      </a:r>
                    </a:p>
                  </a:txBody>
                  <a:tcPr marL="73152" marR="73152" marT="36576" marB="36576">
                    <a:solidFill>
                      <a:srgbClr val="801818"/>
                    </a:solidFill>
                  </a:tcPr>
                </a:tc>
                <a:tc>
                  <a:txBody>
                    <a:bodyPr/>
                    <a:lstStyle/>
                    <a:p>
                      <a:pPr algn="ctr">
                        <a:defRPr sz="950" b="1">
                          <a:solidFill>
                            <a:srgbClr val="FFFFFF"/>
                          </a:solidFill>
                          <a:latin typeface="Arial"/>
                        </a:defRPr>
                      </a:pPr>
                      <a:r>
                        <a:t>Outcome</a:t>
                      </a:r>
                    </a:p>
                  </a:txBody>
                  <a:tcPr marL="73152" marR="73152" marT="36576" marB="36576">
                    <a:solidFill>
                      <a:srgbClr val="801818"/>
                    </a:solidFill>
                  </a:tcPr>
                </a:tc>
                <a:tc>
                  <a:txBody>
                    <a:bodyPr/>
                    <a:lstStyle/>
                    <a:p>
                      <a:pPr algn="ctr">
                        <a:defRPr sz="950" b="1">
                          <a:solidFill>
                            <a:srgbClr val="FFFFFF"/>
                          </a:solidFill>
                          <a:latin typeface="Arial"/>
                        </a:defRPr>
                      </a:pPr>
                      <a:r>
                        <a:t>Winning Hook / Strength</a:t>
                      </a:r>
                    </a:p>
                  </a:txBody>
                  <a:tcPr marL="73152" marR="73152" marT="36576" marB="36576">
                    <a:solidFill>
                      <a:srgbClr val="801818"/>
                    </a:solidFill>
                  </a:tcPr>
                </a:tc>
                <a:tc>
                  <a:txBody>
                    <a:bodyPr/>
                    <a:lstStyle/>
                    <a:p>
                      <a:pPr algn="ctr">
                        <a:defRPr sz="950" b="1">
                          <a:solidFill>
                            <a:srgbClr val="FFFFFF"/>
                          </a:solidFill>
                          <a:latin typeface="Arial"/>
                        </a:defRPr>
                      </a:pPr>
                      <a:r>
                        <a:t>Fatal Weakness Flagged</a:t>
                      </a:r>
                    </a:p>
                  </a:txBody>
                  <a:tcPr marL="73152" marR="73152" marT="36576" marB="36576">
                    <a:solidFill>
                      <a:srgbClr val="801818"/>
                    </a:solidFill>
                  </a:tcPr>
                </a:tc>
              </a:tr>
              <a:tr h="941832">
                <a:tc>
                  <a:txBody>
                    <a:bodyPr/>
                    <a:lstStyle/>
                    <a:p>
                      <a:pPr>
                        <a:defRPr sz="880" b="1">
                          <a:solidFill>
                            <a:srgbClr val="1E293B"/>
                          </a:solidFill>
                          <a:latin typeface="Arial"/>
                        </a:defRPr>
                      </a:pPr>
                      <a:r>
                        <a:t>Scrub Daddy</a:t>
                      </a:r>
                    </a:p>
                    <a:p>
                      <a:r>
                        <a:t>(Season 4)</a:t>
                      </a:r>
                    </a:p>
                  </a:txBody>
                  <a:tcPr marL="73152" marR="73152" marT="36576" marB="36576">
                    <a:solidFill>
                      <a:srgbClr val="FFFFFF"/>
                    </a:solidFill>
                  </a:tcPr>
                </a:tc>
                <a:tc>
                  <a:txBody>
                    <a:bodyPr/>
                    <a:lstStyle/>
                    <a:p>
                      <a:pPr>
                        <a:defRPr sz="880">
                          <a:solidFill>
                            <a:srgbClr val="1E293B"/>
                          </a:solidFill>
                          <a:latin typeface="Arial"/>
                        </a:defRPr>
                      </a:pPr>
                      <a:r>
                        <a:t>Consumer Goods</a:t>
                      </a:r>
                    </a:p>
                  </a:txBody>
                  <a:tcPr marL="73152" marR="73152" marT="36576" marB="36576">
                    <a:solidFill>
                      <a:srgbClr val="FFFFFF"/>
                    </a:solidFill>
                  </a:tcPr>
                </a:tc>
                <a:tc>
                  <a:txBody>
                    <a:bodyPr/>
                    <a:lstStyle/>
                    <a:p>
                      <a:pPr>
                        <a:defRPr sz="880">
                          <a:solidFill>
                            <a:srgbClr val="1E293B"/>
                          </a:solidFill>
                          <a:latin typeface="Arial"/>
                        </a:defRPr>
                      </a:pPr>
                      <a:r>
                        <a:t>$100k for 10%</a:t>
                      </a:r>
                    </a:p>
                    <a:p>
                      <a:r>
                        <a:t>Val: $1M</a:t>
                      </a:r>
                    </a:p>
                  </a:txBody>
                  <a:tcPr marL="73152" marR="73152" marT="36576" marB="36576">
                    <a:solidFill>
                      <a:srgbClr val="FFFFFF"/>
                    </a:solidFill>
                  </a:tcPr>
                </a:tc>
                <a:tc>
                  <a:txBody>
                    <a:bodyPr/>
                    <a:lstStyle/>
                    <a:p>
                      <a:pPr algn="ctr">
                        <a:defRPr sz="880" b="1">
                          <a:solidFill>
                            <a:srgbClr val="10B981"/>
                          </a:solidFill>
                          <a:latin typeface="Arial"/>
                        </a:defRPr>
                      </a:pPr>
                      <a:r>
                        <a:t>Funded</a:t>
                      </a:r>
                    </a:p>
                    <a:p>
                      <a:r>
                        <a:t>(Lori)</a:t>
                      </a:r>
                    </a:p>
                  </a:txBody>
                  <a:tcPr marL="73152" marR="73152" marT="36576" marB="36576">
                    <a:solidFill>
                      <a:srgbClr val="FFFFFF"/>
                    </a:solidFill>
                  </a:tcPr>
                </a:tc>
                <a:tc>
                  <a:txBody>
                    <a:bodyPr/>
                    <a:lstStyle/>
                    <a:p>
                      <a:pPr>
                        <a:defRPr sz="880">
                          <a:solidFill>
                            <a:srgbClr val="1E293B"/>
                          </a:solidFill>
                          <a:latin typeface="Arial"/>
                        </a:defRPr>
                      </a:pPr>
                      <a:r>
                        <a:t>10-second visual demonstration; universal household scratch annoyance solved.</a:t>
                      </a:r>
                    </a:p>
                  </a:txBody>
                  <a:tcPr marL="73152" marR="73152" marT="36576" marB="36576">
                    <a:solidFill>
                      <a:srgbClr val="FFFFFF"/>
                    </a:solidFill>
                  </a:tcPr>
                </a:tc>
                <a:tc>
                  <a:txBody>
                    <a:bodyPr/>
                    <a:lstStyle/>
                    <a:p>
                      <a:pPr>
                        <a:defRPr sz="880">
                          <a:solidFill>
                            <a:srgbClr val="1E293B"/>
                          </a:solidFill>
                          <a:latin typeface="Arial"/>
                        </a:defRPr>
                      </a:pPr>
                      <a:r>
                        <a:t>Initial reliance on grocery retail without QVC/DRTV infomercial strategy.</a:t>
                      </a:r>
                    </a:p>
                  </a:txBody>
                  <a:tcPr marL="73152" marR="73152" marT="36576" marB="36576">
                    <a:solidFill>
                      <a:srgbClr val="FFFFFF"/>
                    </a:solidFill>
                  </a:tcPr>
                </a:tc>
              </a:tr>
              <a:tr h="941832">
                <a:tc>
                  <a:txBody>
                    <a:bodyPr/>
                    <a:lstStyle/>
                    <a:p>
                      <a:pPr>
                        <a:defRPr sz="880" b="1">
                          <a:solidFill>
                            <a:srgbClr val="1E293B"/>
                          </a:solidFill>
                          <a:latin typeface="Arial"/>
                        </a:defRPr>
                      </a:pPr>
                      <a:r>
                        <a:t>Doorbot / Ring</a:t>
                      </a:r>
                    </a:p>
                    <a:p>
                      <a:r>
                        <a:t>(Season 5)</a:t>
                      </a:r>
                    </a:p>
                  </a:txBody>
                  <a:tcPr marL="73152" marR="73152" marT="36576" marB="36576">
                    <a:solidFill>
                      <a:srgbClr val="F8FAFC"/>
                    </a:solidFill>
                  </a:tcPr>
                </a:tc>
                <a:tc>
                  <a:txBody>
                    <a:bodyPr/>
                    <a:lstStyle/>
                    <a:p>
                      <a:pPr>
                        <a:defRPr sz="880">
                          <a:solidFill>
                            <a:srgbClr val="1E293B"/>
                          </a:solidFill>
                          <a:latin typeface="Arial"/>
                        </a:defRPr>
                      </a:pPr>
                      <a:r>
                        <a:t>IoT &amp; Hardware</a:t>
                      </a:r>
                    </a:p>
                  </a:txBody>
                  <a:tcPr marL="73152" marR="73152" marT="36576" marB="36576">
                    <a:solidFill>
                      <a:srgbClr val="F8FAFC"/>
                    </a:solidFill>
                  </a:tcPr>
                </a:tc>
                <a:tc>
                  <a:txBody>
                    <a:bodyPr/>
                    <a:lstStyle/>
                    <a:p>
                      <a:pPr>
                        <a:defRPr sz="880">
                          <a:solidFill>
                            <a:srgbClr val="1E293B"/>
                          </a:solidFill>
                          <a:latin typeface="Arial"/>
                        </a:defRPr>
                      </a:pPr>
                      <a:r>
                        <a:t>$700k for 10%</a:t>
                      </a:r>
                    </a:p>
                    <a:p>
                      <a:r>
                        <a:t>Val: $7M</a:t>
                      </a:r>
                    </a:p>
                  </a:txBody>
                  <a:tcPr marL="73152" marR="73152" marT="36576" marB="36576">
                    <a:solidFill>
                      <a:srgbClr val="F8FAFC"/>
                    </a:solidFill>
                  </a:tcPr>
                </a:tc>
                <a:tc>
                  <a:txBody>
                    <a:bodyPr/>
                    <a:lstStyle/>
                    <a:p>
                      <a:pPr algn="ctr">
                        <a:defRPr sz="880" b="1">
                          <a:solidFill>
                            <a:srgbClr val="801818"/>
                          </a:solidFill>
                          <a:latin typeface="Arial"/>
                        </a:defRPr>
                      </a:pPr>
                      <a:r>
                        <a:t>Rejected</a:t>
                      </a:r>
                    </a:p>
                    <a:p>
                      <a:r>
                        <a:t>(Acquired $1B)</a:t>
                      </a:r>
                    </a:p>
                  </a:txBody>
                  <a:tcPr marL="73152" marR="73152" marT="36576" marB="36576">
                    <a:solidFill>
                      <a:srgbClr val="F8FAFC"/>
                    </a:solidFill>
                  </a:tcPr>
                </a:tc>
                <a:tc>
                  <a:txBody>
                    <a:bodyPr/>
                    <a:lstStyle/>
                    <a:p>
                      <a:pPr>
                        <a:defRPr sz="880">
                          <a:solidFill>
                            <a:srgbClr val="1E293B"/>
                          </a:solidFill>
                          <a:latin typeface="Arial"/>
                        </a:defRPr>
                      </a:pPr>
                      <a:r>
                        <a:t>Compelling stat: 80% burglars ring doorbell first. High early sales ($1M).</a:t>
                      </a:r>
                    </a:p>
                  </a:txBody>
                  <a:tcPr marL="73152" marR="73152" marT="36576" marB="36576">
                    <a:solidFill>
                      <a:srgbClr val="F8FAFC"/>
                    </a:solidFill>
                  </a:tcPr>
                </a:tc>
                <a:tc>
                  <a:txBody>
                    <a:bodyPr/>
                    <a:lstStyle/>
                    <a:p>
                      <a:pPr>
                        <a:defRPr sz="880">
                          <a:solidFill>
                            <a:srgbClr val="1E293B"/>
                          </a:solidFill>
                          <a:latin typeface="Arial"/>
                        </a:defRPr>
                      </a:pPr>
                      <a:r>
                        <a:t>Thin initial margins (&lt;28%), high customer acquisition cost, unproven cloud fees.</a:t>
                      </a:r>
                    </a:p>
                  </a:txBody>
                  <a:tcPr marL="73152" marR="73152" marT="36576" marB="36576">
                    <a:solidFill>
                      <a:srgbClr val="F8FAFC"/>
                    </a:solidFill>
                  </a:tcPr>
                </a:tc>
              </a:tr>
              <a:tr h="941832">
                <a:tc>
                  <a:txBody>
                    <a:bodyPr/>
                    <a:lstStyle/>
                    <a:p>
                      <a:pPr>
                        <a:defRPr sz="880" b="1">
                          <a:solidFill>
                            <a:srgbClr val="1E293B"/>
                          </a:solidFill>
                          <a:latin typeface="Arial"/>
                        </a:defRPr>
                      </a:pPr>
                      <a:r>
                        <a:t>Bombas Socks</a:t>
                      </a:r>
                    </a:p>
                    <a:p>
                      <a:r>
                        <a:t>(Season 6)</a:t>
                      </a:r>
                    </a:p>
                  </a:txBody>
                  <a:tcPr marL="73152" marR="73152" marT="36576" marB="36576">
                    <a:solidFill>
                      <a:srgbClr val="FFFFFF"/>
                    </a:solidFill>
                  </a:tcPr>
                </a:tc>
                <a:tc>
                  <a:txBody>
                    <a:bodyPr/>
                    <a:lstStyle/>
                    <a:p>
                      <a:pPr>
                        <a:defRPr sz="880">
                          <a:solidFill>
                            <a:srgbClr val="1E293B"/>
                          </a:solidFill>
                          <a:latin typeface="Arial"/>
                        </a:defRPr>
                      </a:pPr>
                      <a:r>
                        <a:t>Apparel &amp; D2C</a:t>
                      </a:r>
                    </a:p>
                  </a:txBody>
                  <a:tcPr marL="73152" marR="73152" marT="36576" marB="36576">
                    <a:solidFill>
                      <a:srgbClr val="FFFFFF"/>
                    </a:solidFill>
                  </a:tcPr>
                </a:tc>
                <a:tc>
                  <a:txBody>
                    <a:bodyPr/>
                    <a:lstStyle/>
                    <a:p>
                      <a:pPr>
                        <a:defRPr sz="880">
                          <a:solidFill>
                            <a:srgbClr val="1E293B"/>
                          </a:solidFill>
                          <a:latin typeface="Arial"/>
                        </a:defRPr>
                      </a:pPr>
                      <a:r>
                        <a:t>$200k for 5%</a:t>
                      </a:r>
                    </a:p>
                    <a:p>
                      <a:r>
                        <a:t>Val: $4M</a:t>
                      </a:r>
                    </a:p>
                  </a:txBody>
                  <a:tcPr marL="73152" marR="73152" marT="36576" marB="36576">
                    <a:solidFill>
                      <a:srgbClr val="FFFFFF"/>
                    </a:solidFill>
                  </a:tcPr>
                </a:tc>
                <a:tc>
                  <a:txBody>
                    <a:bodyPr/>
                    <a:lstStyle/>
                    <a:p>
                      <a:pPr algn="ctr">
                        <a:defRPr sz="880" b="1">
                          <a:solidFill>
                            <a:srgbClr val="10B981"/>
                          </a:solidFill>
                          <a:latin typeface="Arial"/>
                        </a:defRPr>
                      </a:pPr>
                      <a:r>
                        <a:t>Funded</a:t>
                      </a:r>
                    </a:p>
                    <a:p>
                      <a:r>
                        <a:t>(Daymond)</a:t>
                      </a:r>
                    </a:p>
                  </a:txBody>
                  <a:tcPr marL="73152" marR="73152" marT="36576" marB="36576">
                    <a:solidFill>
                      <a:srgbClr val="FFFFFF"/>
                    </a:solidFill>
                  </a:tcPr>
                </a:tc>
                <a:tc>
                  <a:txBody>
                    <a:bodyPr/>
                    <a:lstStyle/>
                    <a:p>
                      <a:pPr>
                        <a:defRPr sz="880">
                          <a:solidFill>
                            <a:srgbClr val="1E293B"/>
                          </a:solidFill>
                          <a:latin typeface="Arial"/>
                        </a:defRPr>
                      </a:pPr>
                      <a:r>
                        <a:t>1-for-1 shelter mission paired with re-engineered honeycomb arch; $1.2M sales.</a:t>
                      </a:r>
                    </a:p>
                  </a:txBody>
                  <a:tcPr marL="73152" marR="73152" marT="36576" marB="36576">
                    <a:solidFill>
                      <a:srgbClr val="FFFFFF"/>
                    </a:solidFill>
                  </a:tcPr>
                </a:tc>
                <a:tc>
                  <a:txBody>
                    <a:bodyPr/>
                    <a:lstStyle/>
                    <a:p>
                      <a:pPr>
                        <a:defRPr sz="880">
                          <a:solidFill>
                            <a:srgbClr val="1E293B"/>
                          </a:solidFill>
                          <a:latin typeface="Arial"/>
                        </a:defRPr>
                      </a:pPr>
                      <a:r>
                        <a:t>Inventory capital intensity and risk of charity mission eroding gross margins.</a:t>
                      </a:r>
                    </a:p>
                  </a:txBody>
                  <a:tcPr marL="73152" marR="73152" marT="36576" marB="36576">
                    <a:solidFill>
                      <a:srgbClr val="FFFFFF"/>
                    </a:solidFill>
                  </a:tcPr>
                </a:tc>
              </a:tr>
              <a:tr h="941832">
                <a:tc>
                  <a:txBody>
                    <a:bodyPr/>
                    <a:lstStyle/>
                    <a:p>
                      <a:pPr>
                        <a:defRPr sz="880" b="1">
                          <a:solidFill>
                            <a:srgbClr val="1E293B"/>
                          </a:solidFill>
                          <a:latin typeface="Arial"/>
                        </a:defRPr>
                      </a:pPr>
                      <a:r>
                        <a:t>Copa Di Vino</a:t>
                      </a:r>
                    </a:p>
                    <a:p>
                      <a:r>
                        <a:t>(Season 2 &amp; 3)</a:t>
                      </a:r>
                    </a:p>
                  </a:txBody>
                  <a:tcPr marL="73152" marR="73152" marT="36576" marB="36576">
                    <a:solidFill>
                      <a:srgbClr val="F8FAFC"/>
                    </a:solidFill>
                  </a:tcPr>
                </a:tc>
                <a:tc>
                  <a:txBody>
                    <a:bodyPr/>
                    <a:lstStyle/>
                    <a:p>
                      <a:pPr>
                        <a:defRPr sz="880">
                          <a:solidFill>
                            <a:srgbClr val="1E293B"/>
                          </a:solidFill>
                          <a:latin typeface="Arial"/>
                        </a:defRPr>
                      </a:pPr>
                      <a:r>
                        <a:t>Beverage / Wine</a:t>
                      </a:r>
                    </a:p>
                  </a:txBody>
                  <a:tcPr marL="73152" marR="73152" marT="36576" marB="36576">
                    <a:solidFill>
                      <a:srgbClr val="F8FAFC"/>
                    </a:solidFill>
                  </a:tcPr>
                </a:tc>
                <a:tc>
                  <a:txBody>
                    <a:bodyPr/>
                    <a:lstStyle/>
                    <a:p>
                      <a:pPr>
                        <a:defRPr sz="880">
                          <a:solidFill>
                            <a:srgbClr val="1E293B"/>
                          </a:solidFill>
                          <a:latin typeface="Arial"/>
                        </a:defRPr>
                      </a:pPr>
                      <a:r>
                        <a:t>$600k for 20%</a:t>
                      </a:r>
                    </a:p>
                    <a:p>
                      <a:r>
                        <a:t>Val: $3M</a:t>
                      </a:r>
                    </a:p>
                  </a:txBody>
                  <a:tcPr marL="73152" marR="73152" marT="36576" marB="36576">
                    <a:solidFill>
                      <a:srgbClr val="F8FAFC"/>
                    </a:solidFill>
                  </a:tcPr>
                </a:tc>
                <a:tc>
                  <a:txBody>
                    <a:bodyPr/>
                    <a:lstStyle/>
                    <a:p>
                      <a:pPr algn="ctr">
                        <a:defRPr sz="880" b="1">
                          <a:solidFill>
                            <a:srgbClr val="801818"/>
                          </a:solidFill>
                          <a:latin typeface="Arial"/>
                        </a:defRPr>
                      </a:pPr>
                      <a:r>
                        <a:t>Rejected</a:t>
                      </a:r>
                    </a:p>
                    <a:p>
                      <a:r>
                        <a:t>(No Deal)</a:t>
                      </a:r>
                    </a:p>
                  </a:txBody>
                  <a:tcPr marL="73152" marR="73152" marT="36576" marB="36576">
                    <a:solidFill>
                      <a:srgbClr val="F8FAFC"/>
                    </a:solidFill>
                  </a:tcPr>
                </a:tc>
                <a:tc>
                  <a:txBody>
                    <a:bodyPr/>
                    <a:lstStyle/>
                    <a:p>
                      <a:pPr>
                        <a:defRPr sz="880">
                          <a:solidFill>
                            <a:srgbClr val="1E293B"/>
                          </a:solidFill>
                          <a:latin typeface="Arial"/>
                        </a:defRPr>
                      </a:pPr>
                      <a:r>
                        <a:t>Patented splash-proof single-serve packaging technology.</a:t>
                      </a:r>
                    </a:p>
                  </a:txBody>
                  <a:tcPr marL="73152" marR="73152" marT="36576" marB="36576">
                    <a:solidFill>
                      <a:srgbClr val="F8FAFC"/>
                    </a:solidFill>
                  </a:tcPr>
                </a:tc>
                <a:tc>
                  <a:txBody>
                    <a:bodyPr/>
                    <a:lstStyle/>
                    <a:p>
                      <a:pPr>
                        <a:defRPr sz="880">
                          <a:solidFill>
                            <a:srgbClr val="1E293B"/>
                          </a:solidFill>
                          <a:latin typeface="Arial"/>
                        </a:defRPr>
                      </a:pPr>
                      <a:r>
                        <a:t>Arrogant valuation stance; founder insisted on wine brand over licensing.</a:t>
                      </a:r>
                    </a:p>
                  </a:txBody>
                  <a:tcPr marL="73152" marR="73152" marT="36576" marB="36576">
                    <a:solidFill>
                      <a:srgbClr val="F8FAF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7. Case-Based Retrieval &amp; Mathematical Scoring Model</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9</a:t>
            </a:r>
          </a:p>
        </p:txBody>
      </p:sp>
      <p:sp>
        <p:nvSpPr>
          <p:cNvPr id="10" name="Rounded Rectangle 9"/>
          <p:cNvSpPr/>
          <p:nvPr/>
        </p:nvSpPr>
        <p:spPr>
          <a:xfrm>
            <a:off x="731520" y="1325880"/>
            <a:ext cx="5166360" cy="47091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09728"/>
          <a:lstStyle/>
          <a:p>
            <a:pPr algn="ctr">
              <a:defRPr sz="1400" b="1">
                <a:solidFill>
                  <a:srgbClr val="1E40AF"/>
                </a:solidFill>
                <a:latin typeface="Georgia"/>
              </a:defRPr>
            </a:pPr>
            <a:r>
              <a:t>Case-Based Retrieval (Jaccard Similarity)</a:t>
            </a:r>
          </a:p>
          <a:p>
            <a:pPr>
              <a:spcBef>
                <a:spcPts val="500"/>
              </a:spcBef>
              <a:defRPr sz="950">
                <a:solidFill>
                  <a:srgbClr val="1E293B"/>
                </a:solidFill>
                <a:latin typeface="Arial"/>
              </a:defRPr>
            </a:pPr>
            <a:r>
              <a:t>Jaccard Coefficient Formula:</a:t>
            </a:r>
            <a:br/>
            <a:r>
              <a:t>J(Pitch, Case) = |Tokens(Pitch) ∩ Keywords(Case)| / |Tokens(Pitch) ∪ Keywords(Case)|</a:t>
            </a:r>
          </a:p>
          <a:p>
            <a:pPr>
              <a:spcBef>
                <a:spcPts val="500"/>
              </a:spcBef>
              <a:defRPr sz="950">
                <a:solidFill>
                  <a:srgbClr val="1E293B"/>
                </a:solidFill>
                <a:latin typeface="Arial"/>
              </a:defRPr>
            </a:pPr>
            <a:r>
              <a:t>Corpus Vector Ingestion: Each case in the Shark Tank corpus is pre-indexed with high-signal industry keywords, pain points, and outcome tags.</a:t>
            </a:r>
          </a:p>
          <a:p>
            <a:pPr>
              <a:spcBef>
                <a:spcPts val="500"/>
              </a:spcBef>
              <a:defRPr sz="950">
                <a:solidFill>
                  <a:srgbClr val="1E293B"/>
                </a:solidFill>
                <a:latin typeface="Arial"/>
              </a:defRPr>
            </a:pPr>
            <a:r>
              <a:t>Funded &amp; Rejected Split: The retrieval engine searches both partitions independently to surface:</a:t>
            </a:r>
          </a:p>
          <a:p>
            <a:pPr>
              <a:spcBef>
                <a:spcPts val="500"/>
              </a:spcBef>
              <a:defRPr sz="950">
                <a:solidFill>
                  <a:srgbClr val="1E293B"/>
                </a:solidFill>
                <a:latin typeface="Arial"/>
              </a:defRPr>
            </a:pPr>
            <a:r>
              <a:t>  • Closest Funded Benchmark: Models winning value proposition and proof point cadence.</a:t>
            </a:r>
          </a:p>
          <a:p>
            <a:pPr>
              <a:spcBef>
                <a:spcPts val="500"/>
              </a:spcBef>
              <a:defRPr sz="950">
                <a:solidFill>
                  <a:srgbClr val="1E293B"/>
                </a:solidFill>
                <a:latin typeface="Arial"/>
              </a:defRPr>
            </a:pPr>
            <a:r>
              <a:t>  • Closest Rejected Precedent: Flags fatal valuation, margin, or market assumptions that sank similar founders in the tank.</a:t>
            </a:r>
          </a:p>
        </p:txBody>
      </p:sp>
      <p:sp>
        <p:nvSpPr>
          <p:cNvPr id="11" name="Rounded Rectangle 10"/>
          <p:cNvSpPr/>
          <p:nvPr/>
        </p:nvSpPr>
        <p:spPr>
          <a:xfrm>
            <a:off x="6172200" y="1325880"/>
            <a:ext cx="5287975" cy="4709160"/>
          </a:xfrm>
          <a:prstGeom prst="roundRect">
            <a:avLst/>
          </a:prstGeom>
          <a:solidFill>
            <a:srgbClr val="FFFBEB"/>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09728"/>
          <a:lstStyle/>
          <a:p>
            <a:pPr algn="ctr">
              <a:defRPr sz="1400" b="1">
                <a:solidFill>
                  <a:srgbClr val="D97706"/>
                </a:solidFill>
                <a:latin typeface="Georgia"/>
              </a:defRPr>
            </a:pPr>
            <a:r>
              <a:t>Multi-Factor Investability Scoring</a:t>
            </a:r>
          </a:p>
          <a:p>
            <a:pPr>
              <a:spcBef>
                <a:spcPts val="500"/>
              </a:spcBef>
              <a:defRPr sz="950">
                <a:solidFill>
                  <a:srgbClr val="1E293B"/>
                </a:solidFill>
                <a:latin typeface="Arial"/>
              </a:defRPr>
            </a:pPr>
            <a:r>
              <a:t>Investability Score Formulation:</a:t>
            </a:r>
            <a:br/>
            <a:r>
              <a:t>Score = (0.20·C) + (0.20·H) + (0.15·S) + (0.20·P) + (0.15·CTA) + (0.10·Conf)</a:t>
            </a:r>
          </a:p>
          <a:p>
            <a:pPr>
              <a:spcBef>
                <a:spcPts val="500"/>
              </a:spcBef>
              <a:defRPr sz="950">
                <a:solidFill>
                  <a:srgbClr val="1E293B"/>
                </a:solidFill>
                <a:latin typeface="Arial"/>
              </a:defRPr>
            </a:pPr>
            <a:r>
              <a:t>Where each dimension evaluates concrete indicators:</a:t>
            </a:r>
          </a:p>
          <a:p>
            <a:pPr>
              <a:spcBef>
                <a:spcPts val="500"/>
              </a:spcBef>
              <a:defRPr sz="950">
                <a:solidFill>
                  <a:srgbClr val="1E293B"/>
                </a:solidFill>
                <a:latin typeface="Arial"/>
              </a:defRPr>
            </a:pPr>
            <a:r>
              <a:t>  • C (Clarity): Sentence length control (&lt;24 words) &amp; readability.</a:t>
            </a:r>
          </a:p>
          <a:p>
            <a:pPr>
              <a:spcBef>
                <a:spcPts val="500"/>
              </a:spcBef>
              <a:defRPr sz="950">
                <a:solidFill>
                  <a:srgbClr val="1E293B"/>
                </a:solidFill>
                <a:latin typeface="Arial"/>
              </a:defRPr>
            </a:pPr>
            <a:r>
              <a:t>  • H (Hook): First sentence punchiness (&lt;14 words) &amp; metric hook.</a:t>
            </a:r>
          </a:p>
          <a:p>
            <a:pPr>
              <a:spcBef>
                <a:spcPts val="500"/>
              </a:spcBef>
              <a:defRPr sz="950">
                <a:solidFill>
                  <a:srgbClr val="1E293B"/>
                </a:solidFill>
                <a:latin typeface="Arial"/>
              </a:defRPr>
            </a:pPr>
            <a:r>
              <a:t>  • S (Structure): Problem-solution sequence &amp; transition tokens.</a:t>
            </a:r>
          </a:p>
          <a:p>
            <a:pPr>
              <a:spcBef>
                <a:spcPts val="500"/>
              </a:spcBef>
              <a:defRPr sz="950">
                <a:solidFill>
                  <a:srgbClr val="1E293B"/>
                </a:solidFill>
                <a:latin typeface="Arial"/>
              </a:defRPr>
            </a:pPr>
            <a:r>
              <a:t>  • P (Persuasion): Hard quantitative traction ($ revenue, %, users).</a:t>
            </a:r>
          </a:p>
          <a:p>
            <a:pPr>
              <a:spcBef>
                <a:spcPts val="500"/>
              </a:spcBef>
              <a:defRPr sz="950">
                <a:solidFill>
                  <a:srgbClr val="1E293B"/>
                </a:solidFill>
                <a:latin typeface="Arial"/>
              </a:defRPr>
            </a:pPr>
            <a:r>
              <a:t>  • CTA: Clear transactional ask (trial, pilot, investment term).</a:t>
            </a:r>
          </a:p>
          <a:p>
            <a:pPr>
              <a:spcBef>
                <a:spcPts val="500"/>
              </a:spcBef>
              <a:defRPr sz="950">
                <a:solidFill>
                  <a:srgbClr val="1E293B"/>
                </a:solidFill>
                <a:latin typeface="Arial"/>
              </a:defRPr>
            </a:pPr>
            <a:r>
              <a:t>  • Conf (Confidence): Active voice, zero hesitation tokens ('maybe').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8. Shark Investor Multi-Perspective Diagnostic Panel</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10</a:t>
            </a:r>
          </a:p>
        </p:txBody>
      </p:sp>
      <p:sp>
        <p:nvSpPr>
          <p:cNvPr id="10" name="Rounded Rectangle 9"/>
          <p:cNvSpPr/>
          <p:nvPr/>
        </p:nvSpPr>
        <p:spPr>
          <a:xfrm>
            <a:off x="731520" y="1325880"/>
            <a:ext cx="3456432" cy="47091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09728"/>
          <a:lstStyle/>
          <a:p>
            <a:pPr algn="ctr">
              <a:defRPr sz="1350" b="1">
                <a:solidFill>
                  <a:srgbClr val="1E40AF"/>
                </a:solidFill>
                <a:latin typeface="Georgia"/>
              </a:defRPr>
            </a:pPr>
            <a:r>
              <a:t>The Tech &amp; Scalability Shark</a:t>
            </a:r>
          </a:p>
          <a:p>
            <a:pPr>
              <a:spcBef>
                <a:spcPts val="300"/>
              </a:spcBef>
              <a:defRPr sz="950" b="1">
                <a:solidFill>
                  <a:srgbClr val="801818"/>
                </a:solidFill>
                <a:latin typeface="Arial"/>
              </a:defRPr>
            </a:pPr>
            <a:r>
              <a:t>Archetype: Mark Cuban Style</a:t>
            </a:r>
          </a:p>
          <a:p>
            <a:pPr>
              <a:spcBef>
                <a:spcPts val="200"/>
              </a:spcBef>
              <a:defRPr sz="900">
                <a:solidFill>
                  <a:srgbClr val="64748B"/>
                </a:solidFill>
                <a:latin typeface="Arial"/>
              </a:defRPr>
            </a:pPr>
            <a:r>
              <a:t>Focus: Customer Acquisition &amp; Defensible Moats</a:t>
            </a:r>
          </a:p>
          <a:p>
            <a:pPr>
              <a:spcBef>
                <a:spcPts val="600"/>
              </a:spcBef>
              <a:defRPr sz="900">
                <a:solidFill>
                  <a:srgbClr val="1E293B"/>
                </a:solidFill>
                <a:latin typeface="Arial"/>
              </a:defRPr>
            </a:pPr>
            <a:r>
              <a:t>Overview: Evaluates whether the company has a proprietary technology advantage or if a tech giant can easily replicate it.</a:t>
            </a:r>
          </a:p>
          <a:p>
            <a:pPr>
              <a:spcBef>
                <a:spcPts val="600"/>
              </a:spcBef>
              <a:defRPr sz="880">
                <a:solidFill>
                  <a:srgbClr val="1E293B"/>
                </a:solidFill>
                <a:latin typeface="Arial"/>
              </a:defRPr>
            </a:pPr>
            <a:r>
              <a:t>Algorithmic Logic:</a:t>
            </a:r>
            <a:br/>
            <a:r>
              <a:t>Diagnostic Rule: If no numerical metrics are detected, flags: 'Where are your unit economics? CAC vs LTV? Without numbers, you are burning cash.' If tech lacks moat, flags replication risk.</a:t>
            </a:r>
          </a:p>
        </p:txBody>
      </p:sp>
      <p:sp>
        <p:nvSpPr>
          <p:cNvPr id="11" name="Rounded Rectangle 10"/>
          <p:cNvSpPr/>
          <p:nvPr/>
        </p:nvSpPr>
        <p:spPr>
          <a:xfrm>
            <a:off x="4370832" y="1325880"/>
            <a:ext cx="3456432" cy="4709160"/>
          </a:xfrm>
          <a:prstGeom prst="roundRect">
            <a:avLst/>
          </a:prstGeom>
          <a:solidFill>
            <a:srgbClr val="FFFBEB"/>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09728"/>
          <a:lstStyle/>
          <a:p>
            <a:pPr algn="ctr">
              <a:defRPr sz="1350" b="1">
                <a:solidFill>
                  <a:srgbClr val="D97706"/>
                </a:solidFill>
                <a:latin typeface="Georgia"/>
              </a:defRPr>
            </a:pPr>
            <a:r>
              <a:t>The Numbers &amp; Margin Shark</a:t>
            </a:r>
          </a:p>
          <a:p>
            <a:pPr>
              <a:spcBef>
                <a:spcPts val="300"/>
              </a:spcBef>
              <a:defRPr sz="950" b="1">
                <a:solidFill>
                  <a:srgbClr val="801818"/>
                </a:solidFill>
                <a:latin typeface="Arial"/>
              </a:defRPr>
            </a:pPr>
            <a:r>
              <a:t>Archetype: Kevin O'Leary Style</a:t>
            </a:r>
          </a:p>
          <a:p>
            <a:pPr>
              <a:spcBef>
                <a:spcPts val="200"/>
              </a:spcBef>
              <a:defRPr sz="900">
                <a:solidFill>
                  <a:srgbClr val="64748B"/>
                </a:solidFill>
                <a:latin typeface="Arial"/>
              </a:defRPr>
            </a:pPr>
            <a:r>
              <a:t>Focus: Gross Margins &amp; Free Cash Flow</a:t>
            </a:r>
          </a:p>
          <a:p>
            <a:pPr>
              <a:spcBef>
                <a:spcPts val="600"/>
              </a:spcBef>
              <a:defRPr sz="900">
                <a:solidFill>
                  <a:srgbClr val="1E293B"/>
                </a:solidFill>
                <a:latin typeface="Arial"/>
              </a:defRPr>
            </a:pPr>
            <a:r>
              <a:t>Overview: Evaluates the unit economics, manufacturing cost, retail pricing, and clear path to capital recovery.</a:t>
            </a:r>
          </a:p>
          <a:p>
            <a:pPr>
              <a:spcBef>
                <a:spcPts val="600"/>
              </a:spcBef>
              <a:defRPr sz="880">
                <a:solidFill>
                  <a:srgbClr val="1E293B"/>
                </a:solidFill>
                <a:latin typeface="Arial"/>
              </a:defRPr>
            </a:pPr>
            <a:r>
              <a:t>Algorithmic Logic:</a:t>
            </a:r>
            <a:br/>
            <a:r>
              <a:t>Diagnostic Rule: If margin or revenue tokens are absent, triggers: 'All business is math! If you don't have at least a 60% gross margin, you are running a charity.' Also checks for immediate transactional CTA.</a:t>
            </a:r>
          </a:p>
        </p:txBody>
      </p:sp>
      <p:sp>
        <p:nvSpPr>
          <p:cNvPr id="12" name="Rounded Rectangle 11"/>
          <p:cNvSpPr/>
          <p:nvPr/>
        </p:nvSpPr>
        <p:spPr>
          <a:xfrm>
            <a:off x="8010144" y="1325880"/>
            <a:ext cx="3456432" cy="470916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09728"/>
          <a:lstStyle/>
          <a:p>
            <a:pPr algn="ctr">
              <a:defRPr sz="1350" b="1">
                <a:solidFill>
                  <a:srgbClr val="166534"/>
                </a:solidFill>
                <a:latin typeface="Georgia"/>
              </a:defRPr>
            </a:pPr>
            <a:r>
              <a:t>The Retail &amp; Hero Product Shark</a:t>
            </a:r>
          </a:p>
          <a:p>
            <a:pPr>
              <a:spcBef>
                <a:spcPts val="300"/>
              </a:spcBef>
              <a:defRPr sz="950" b="1">
                <a:solidFill>
                  <a:srgbClr val="801818"/>
                </a:solidFill>
                <a:latin typeface="Arial"/>
              </a:defRPr>
            </a:pPr>
            <a:r>
              <a:t>Archetype: Lori Greiner Style</a:t>
            </a:r>
          </a:p>
          <a:p>
            <a:pPr>
              <a:spcBef>
                <a:spcPts val="200"/>
              </a:spcBef>
              <a:defRPr sz="900">
                <a:solidFill>
                  <a:srgbClr val="64748B"/>
                </a:solidFill>
                <a:latin typeface="Arial"/>
              </a:defRPr>
            </a:pPr>
            <a:r>
              <a:t>Focus: 10-Second Visual Demonstration</a:t>
            </a:r>
          </a:p>
          <a:p>
            <a:pPr>
              <a:spcBef>
                <a:spcPts val="600"/>
              </a:spcBef>
              <a:defRPr sz="900">
                <a:solidFill>
                  <a:srgbClr val="1E293B"/>
                </a:solidFill>
                <a:latin typeface="Arial"/>
              </a:defRPr>
            </a:pPr>
            <a:r>
              <a:t>Overview: Evaluates consumer appeal, immediate visual clarity, and whether the product solves an instant everyday annoyance.</a:t>
            </a:r>
          </a:p>
          <a:p>
            <a:pPr>
              <a:spcBef>
                <a:spcPts val="600"/>
              </a:spcBef>
              <a:defRPr sz="880">
                <a:solidFill>
                  <a:srgbClr val="1E293B"/>
                </a:solidFill>
                <a:latin typeface="Arial"/>
              </a:defRPr>
            </a:pPr>
            <a:r>
              <a:t>Algorithmic Logic:</a:t>
            </a:r>
            <a:br/>
            <a:r>
              <a:t>Diagnostic Rule: Audits the first sentence length. If opening is &gt;14 words, triggers: 'Your opening is too long! You have 5 seconds on television or social media to hook the consumer before they scroll away.'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9. 5-Stage Shark-Grade Pitch Script Synthesis</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11</a:t>
            </a:r>
          </a:p>
        </p:txBody>
      </p:sp>
      <p:sp>
        <p:nvSpPr>
          <p:cNvPr id="10" name="Rounded Rectangle 9"/>
          <p:cNvSpPr/>
          <p:nvPr/>
        </p:nvSpPr>
        <p:spPr>
          <a:xfrm>
            <a:off x="731520" y="1325880"/>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51560" rIns="182880" tIns="73152" bIns="73152"/>
          <a:lstStyle/>
          <a:p>
            <a:pPr algn="ctr">
              <a:defRPr sz="1050" b="1">
                <a:solidFill>
                  <a:srgbClr val="801818"/>
                </a:solidFill>
                <a:latin typeface="Arial"/>
              </a:defRPr>
            </a:pPr>
            <a:r>
              <a:t>Stage 1: The 5-Second Hook — </a:t>
            </a:r>
            <a:r>
              <a:rPr b="0">
                <a:solidFill>
                  <a:srgbClr val="1E293B"/>
                </a:solidFill>
              </a:rPr>
              <a:t>Opens with a provocative question or startling market statistic that captures investor attention in under 12 words.</a:t>
            </a:r>
          </a:p>
          <a:p>
            <a:pPr>
              <a:spcBef>
                <a:spcPts val="200"/>
              </a:spcBef>
              <a:defRPr sz="919" i="1">
                <a:solidFill>
                  <a:srgbClr val="475569"/>
                </a:solidFill>
                <a:latin typeface="Arial"/>
              </a:defRPr>
            </a:pPr>
            <a:r>
              <a:t>Ex: "E.g., 'Over 2 million break-ins happen every year — and 80% start at your front door.'"</a:t>
            </a:r>
          </a:p>
        </p:txBody>
      </p:sp>
      <p:sp>
        <p:nvSpPr>
          <p:cNvPr id="11" name="Rectangle 10"/>
          <p:cNvSpPr/>
          <p:nvPr/>
        </p:nvSpPr>
        <p:spPr>
          <a:xfrm>
            <a:off x="731520" y="1325880"/>
            <a:ext cx="914400"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1</a:t>
            </a:r>
          </a:p>
        </p:txBody>
      </p:sp>
      <p:sp>
        <p:nvSpPr>
          <p:cNvPr id="12" name="Rounded Rectangle 11"/>
          <p:cNvSpPr/>
          <p:nvPr/>
        </p:nvSpPr>
        <p:spPr>
          <a:xfrm>
            <a:off x="731520" y="2258568"/>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51560" rIns="182880" tIns="73152" bIns="73152"/>
          <a:lstStyle/>
          <a:p>
            <a:pPr algn="ctr">
              <a:defRPr sz="1050" b="1">
                <a:solidFill>
                  <a:srgbClr val="801818"/>
                </a:solidFill>
                <a:latin typeface="Arial"/>
              </a:defRPr>
            </a:pPr>
            <a:r>
              <a:t>Stage 2: Quantified Pain Point — </a:t>
            </a:r>
            <a:r>
              <a:rPr b="0">
                <a:solidFill>
                  <a:srgbClr val="1E293B"/>
                </a:solidFill>
              </a:rPr>
              <a:t>Establishes a concrete, measurable problem currently costing time, capital, or safety for target users.</a:t>
            </a:r>
          </a:p>
          <a:p>
            <a:pPr>
              <a:spcBef>
                <a:spcPts val="200"/>
              </a:spcBef>
              <a:defRPr sz="919" i="1">
                <a:solidFill>
                  <a:srgbClr val="475569"/>
                </a:solidFill>
                <a:latin typeface="Arial"/>
              </a:defRPr>
            </a:pPr>
            <a:r>
              <a:t>Ex: "E.g., 'Companies lose $4.2B annually simply waiting for slow database queries to finish.'"</a:t>
            </a:r>
          </a:p>
        </p:txBody>
      </p:sp>
      <p:sp>
        <p:nvSpPr>
          <p:cNvPr id="13" name="Rectangle 12"/>
          <p:cNvSpPr/>
          <p:nvPr/>
        </p:nvSpPr>
        <p:spPr>
          <a:xfrm>
            <a:off x="731520" y="2258568"/>
            <a:ext cx="914400"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2</a:t>
            </a:r>
          </a:p>
        </p:txBody>
      </p:sp>
      <p:sp>
        <p:nvSpPr>
          <p:cNvPr id="14" name="Rounded Rectangle 13"/>
          <p:cNvSpPr/>
          <p:nvPr/>
        </p:nvSpPr>
        <p:spPr>
          <a:xfrm>
            <a:off x="731520" y="3191256"/>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51560" rIns="182880" tIns="73152" bIns="73152"/>
          <a:lstStyle/>
          <a:p>
            <a:pPr algn="ctr">
              <a:defRPr sz="1050" b="1">
                <a:solidFill>
                  <a:srgbClr val="801818"/>
                </a:solidFill>
                <a:latin typeface="Arial"/>
              </a:defRPr>
            </a:pPr>
            <a:r>
              <a:t>Stage 3: The Engineered Solution — </a:t>
            </a:r>
            <a:r>
              <a:rPr b="0">
                <a:solidFill>
                  <a:srgbClr val="1E293B"/>
                </a:solidFill>
              </a:rPr>
              <a:t>Introduces the proprietary product and clear mechanism of action without technical jargon.</a:t>
            </a:r>
          </a:p>
          <a:p>
            <a:pPr>
              <a:spcBef>
                <a:spcPts val="200"/>
              </a:spcBef>
              <a:defRPr sz="919" i="1">
                <a:solidFill>
                  <a:srgbClr val="475569"/>
                </a:solidFill>
                <a:latin typeface="Arial"/>
              </a:defRPr>
            </a:pPr>
            <a:r>
              <a:t>Ex: "E.g., 'PitchIQ v2.0 solves this with an instant retrieval-augmented coaching engine.'"</a:t>
            </a:r>
          </a:p>
        </p:txBody>
      </p:sp>
      <p:sp>
        <p:nvSpPr>
          <p:cNvPr id="15" name="Rectangle 14"/>
          <p:cNvSpPr/>
          <p:nvPr/>
        </p:nvSpPr>
        <p:spPr>
          <a:xfrm>
            <a:off x="731520" y="3191256"/>
            <a:ext cx="914400"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3</a:t>
            </a:r>
          </a:p>
        </p:txBody>
      </p:sp>
      <p:sp>
        <p:nvSpPr>
          <p:cNvPr id="16" name="Rounded Rectangle 15"/>
          <p:cNvSpPr/>
          <p:nvPr/>
        </p:nvSpPr>
        <p:spPr>
          <a:xfrm>
            <a:off x="731520" y="4123944"/>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51560" rIns="182880" tIns="73152" bIns="73152"/>
          <a:lstStyle/>
          <a:p>
            <a:pPr algn="ctr">
              <a:defRPr sz="1050" b="1">
                <a:solidFill>
                  <a:srgbClr val="801818"/>
                </a:solidFill>
                <a:latin typeface="Arial"/>
              </a:defRPr>
            </a:pPr>
            <a:r>
              <a:t>Stage 4: Traction &amp; Unit Economics — </a:t>
            </a:r>
            <a:r>
              <a:rPr b="0">
                <a:solidFill>
                  <a:srgbClr val="1E293B"/>
                </a:solidFill>
              </a:rPr>
              <a:t>Anchors the pitch in hard financial validation (revenue, users, gross margins, growth rate).</a:t>
            </a:r>
          </a:p>
          <a:p>
            <a:pPr>
              <a:spcBef>
                <a:spcPts val="200"/>
              </a:spcBef>
              <a:defRPr sz="919" i="1">
                <a:solidFill>
                  <a:srgbClr val="475569"/>
                </a:solidFill>
                <a:latin typeface="Arial"/>
              </a:defRPr>
            </a:pPr>
            <a:r>
              <a:t>Ex: "E.g., 'We have generated $1.2M in sales across 4,500 active teams with 82% gross margins.'"</a:t>
            </a:r>
          </a:p>
        </p:txBody>
      </p:sp>
      <p:sp>
        <p:nvSpPr>
          <p:cNvPr id="17" name="Rectangle 16"/>
          <p:cNvSpPr/>
          <p:nvPr/>
        </p:nvSpPr>
        <p:spPr>
          <a:xfrm>
            <a:off x="731520" y="4123944"/>
            <a:ext cx="914400"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4</a:t>
            </a:r>
          </a:p>
        </p:txBody>
      </p:sp>
      <p:sp>
        <p:nvSpPr>
          <p:cNvPr id="18" name="Rounded Rectangle 17"/>
          <p:cNvSpPr/>
          <p:nvPr/>
        </p:nvSpPr>
        <p:spPr>
          <a:xfrm>
            <a:off x="731520" y="5056632"/>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51560" rIns="182880" tIns="73152" bIns="73152"/>
          <a:lstStyle/>
          <a:p>
            <a:pPr algn="ctr">
              <a:defRPr sz="1050" b="1">
                <a:solidFill>
                  <a:srgbClr val="801818"/>
                </a:solidFill>
                <a:latin typeface="Arial"/>
              </a:defRPr>
            </a:pPr>
            <a:r>
              <a:t>Stage 5: Unapologetic Ask &amp; CTA — </a:t>
            </a:r>
            <a:r>
              <a:rPr b="0">
                <a:solidFill>
                  <a:srgbClr val="1E293B"/>
                </a:solidFill>
              </a:rPr>
              <a:t>Closes with an unambiguous investment request or transactional trial call-to-action.</a:t>
            </a:r>
          </a:p>
          <a:p>
            <a:pPr>
              <a:spcBef>
                <a:spcPts val="200"/>
              </a:spcBef>
              <a:defRPr sz="919" i="1">
                <a:solidFill>
                  <a:srgbClr val="475569"/>
                </a:solidFill>
                <a:latin typeface="Arial"/>
              </a:defRPr>
            </a:pPr>
            <a:r>
              <a:t>Ex: "E.g., 'We are raising $500,000 for 10% equity to scale national retail distribution.'"</a:t>
            </a:r>
          </a:p>
        </p:txBody>
      </p:sp>
      <p:sp>
        <p:nvSpPr>
          <p:cNvPr id="19" name="Rectangle 18"/>
          <p:cNvSpPr/>
          <p:nvPr/>
        </p:nvSpPr>
        <p:spPr>
          <a:xfrm>
            <a:off x="731520" y="5056632"/>
            <a:ext cx="914400" cy="841248"/>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10. Experimental Results &amp; Benchmark Validation</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12</a:t>
            </a:r>
          </a:p>
        </p:txBody>
      </p:sp>
      <p:graphicFrame>
        <p:nvGraphicFramePr>
          <p:cNvPr id="10" name="Table 9"/>
          <p:cNvGraphicFramePr>
            <a:graphicFrameLocks noGrp="1"/>
          </p:cNvGraphicFramePr>
          <p:nvPr/>
        </p:nvGraphicFramePr>
        <p:xfrm>
          <a:off x="731520" y="1325880"/>
          <a:ext cx="10728655" cy="4709160"/>
        </p:xfrm>
        <a:graphic>
          <a:graphicData uri="http://schemas.openxmlformats.org/drawingml/2006/table">
            <a:tbl>
              <a:tblPr firstRow="1" bandRow="1">
                <a:tableStyleId>{5C22544A-7EE6-4342-B048-85BDC9FD1C3A}</a:tableStyleId>
              </a:tblPr>
              <a:tblGrid>
                <a:gridCol w="2011680"/>
                <a:gridCol w="1097280"/>
                <a:gridCol w="2103120"/>
                <a:gridCol w="2103120"/>
                <a:gridCol w="1828800"/>
                <a:gridCol w="1584655"/>
              </a:tblGrid>
              <a:tr h="1177290">
                <a:tc>
                  <a:txBody>
                    <a:bodyPr/>
                    <a:lstStyle/>
                    <a:p>
                      <a:pPr algn="ctr">
                        <a:defRPr sz="950" b="1">
                          <a:solidFill>
                            <a:srgbClr val="FFFFFF"/>
                          </a:solidFill>
                          <a:latin typeface="Arial"/>
                        </a:defRPr>
                      </a:pPr>
                      <a:r>
                        <a:t>Input Pitch Scenario</a:t>
                      </a:r>
                    </a:p>
                  </a:txBody>
                  <a:tcPr marL="73152" marR="73152" marT="36576" marB="36576">
                    <a:solidFill>
                      <a:srgbClr val="801818"/>
                    </a:solidFill>
                  </a:tcPr>
                </a:tc>
                <a:tc>
                  <a:txBody>
                    <a:bodyPr/>
                    <a:lstStyle/>
                    <a:p>
                      <a:pPr algn="ctr">
                        <a:defRPr sz="950" b="1">
                          <a:solidFill>
                            <a:srgbClr val="FFFFFF"/>
                          </a:solidFill>
                          <a:latin typeface="Arial"/>
                        </a:defRPr>
                      </a:pPr>
                      <a:r>
                        <a:t>Investability Score</a:t>
                      </a:r>
                    </a:p>
                  </a:txBody>
                  <a:tcPr marL="73152" marR="73152" marT="36576" marB="36576">
                    <a:solidFill>
                      <a:srgbClr val="801818"/>
                    </a:solidFill>
                  </a:tcPr>
                </a:tc>
                <a:tc>
                  <a:txBody>
                    <a:bodyPr/>
                    <a:lstStyle/>
                    <a:p>
                      <a:pPr algn="ctr">
                        <a:defRPr sz="950" b="1">
                          <a:solidFill>
                            <a:srgbClr val="FFFFFF"/>
                          </a:solidFill>
                          <a:latin typeface="Arial"/>
                        </a:defRPr>
                      </a:pPr>
                      <a:r>
                        <a:t>Closest Funded Deal (RAG)</a:t>
                      </a:r>
                    </a:p>
                  </a:txBody>
                  <a:tcPr marL="73152" marR="73152" marT="36576" marB="36576">
                    <a:solidFill>
                      <a:srgbClr val="801818"/>
                    </a:solidFill>
                  </a:tcPr>
                </a:tc>
                <a:tc>
                  <a:txBody>
                    <a:bodyPr/>
                    <a:lstStyle/>
                    <a:p>
                      <a:pPr algn="ctr">
                        <a:defRPr sz="950" b="1">
                          <a:solidFill>
                            <a:srgbClr val="FFFFFF"/>
                          </a:solidFill>
                          <a:latin typeface="Arial"/>
                        </a:defRPr>
                      </a:pPr>
                      <a:r>
                        <a:t>Closest Rejected Deal (RAG)</a:t>
                      </a:r>
                    </a:p>
                  </a:txBody>
                  <a:tcPr marL="73152" marR="73152" marT="36576" marB="36576">
                    <a:solidFill>
                      <a:srgbClr val="801818"/>
                    </a:solidFill>
                  </a:tcPr>
                </a:tc>
                <a:tc>
                  <a:txBody>
                    <a:bodyPr/>
                    <a:lstStyle/>
                    <a:p>
                      <a:pPr algn="ctr">
                        <a:defRPr sz="950" b="1">
                          <a:solidFill>
                            <a:srgbClr val="FFFFFF"/>
                          </a:solidFill>
                          <a:latin typeface="Arial"/>
                        </a:defRPr>
                      </a:pPr>
                      <a:r>
                        <a:t>Primary Flaw Flagged</a:t>
                      </a:r>
                    </a:p>
                  </a:txBody>
                  <a:tcPr marL="73152" marR="73152" marT="36576" marB="36576">
                    <a:solidFill>
                      <a:srgbClr val="801818"/>
                    </a:solidFill>
                  </a:tcPr>
                </a:tc>
                <a:tc>
                  <a:txBody>
                    <a:bodyPr/>
                    <a:lstStyle/>
                    <a:p>
                      <a:pPr algn="ctr">
                        <a:defRPr sz="950" b="1">
                          <a:solidFill>
                            <a:srgbClr val="FFFFFF"/>
                          </a:solidFill>
                          <a:latin typeface="Arial"/>
                        </a:defRPr>
                      </a:pPr>
                      <a:r>
                        <a:t>System Verdict</a:t>
                      </a:r>
                    </a:p>
                  </a:txBody>
                  <a:tcPr marL="73152" marR="73152" marT="36576" marB="36576">
                    <a:solidFill>
                      <a:srgbClr val="801818"/>
                    </a:solidFill>
                  </a:tcPr>
                </a:tc>
              </a:tr>
              <a:tr h="1177290">
                <a:tc>
                  <a:txBody>
                    <a:bodyPr/>
                    <a:lstStyle/>
                    <a:p>
                      <a:pPr>
                        <a:defRPr sz="880" b="1">
                          <a:solidFill>
                            <a:srgbClr val="1E293B"/>
                          </a:solidFill>
                          <a:latin typeface="Arial"/>
                        </a:defRPr>
                      </a:pPr>
                      <a:r>
                        <a:t>Scenario A: High-Traction SaaS</a:t>
                      </a:r>
                    </a:p>
                    <a:p>
                      <a:r>
                        <a:t>('DevOps pipeline saving 35% debug time, $42k MRR, raising $500k')</a:t>
                      </a:r>
                    </a:p>
                  </a:txBody>
                  <a:tcPr marL="73152" marR="73152" marT="36576" marB="36576">
                    <a:solidFill>
                      <a:srgbClr val="FFFFFF"/>
                    </a:solidFill>
                  </a:tcPr>
                </a:tc>
                <a:tc>
                  <a:txBody>
                    <a:bodyPr/>
                    <a:lstStyle/>
                    <a:p>
                      <a:pPr algn="ctr">
                        <a:defRPr sz="880" b="1">
                          <a:solidFill>
                            <a:srgbClr val="10B981"/>
                          </a:solidFill>
                          <a:latin typeface="Arial"/>
                        </a:defRPr>
                      </a:pPr>
                      <a:r>
                        <a:t>92 / 100</a:t>
                      </a:r>
                    </a:p>
                    <a:p>
                      <a:r>
                        <a:t>(Excellent)</a:t>
                      </a:r>
                    </a:p>
                  </a:txBody>
                  <a:tcPr marL="73152" marR="73152" marT="36576" marB="36576">
                    <a:solidFill>
                      <a:srgbClr val="FFFFFF"/>
                    </a:solidFill>
                  </a:tcPr>
                </a:tc>
                <a:tc>
                  <a:txBody>
                    <a:bodyPr/>
                    <a:lstStyle/>
                    <a:p>
                      <a:pPr>
                        <a:defRPr sz="880">
                          <a:solidFill>
                            <a:srgbClr val="1E293B"/>
                          </a:solidFill>
                          <a:latin typeface="Arial"/>
                        </a:defRPr>
                      </a:pPr>
                      <a:r>
                        <a:t>SaaS DevTools (YC Model)</a:t>
                      </a:r>
                    </a:p>
                    <a:p>
                      <a:r>
                        <a:t>[Match: 88%]</a:t>
                      </a:r>
                    </a:p>
                  </a:txBody>
                  <a:tcPr marL="73152" marR="73152" marT="36576" marB="36576">
                    <a:solidFill>
                      <a:srgbClr val="FFFFFF"/>
                    </a:solidFill>
                  </a:tcPr>
                </a:tc>
                <a:tc>
                  <a:txBody>
                    <a:bodyPr/>
                    <a:lstStyle/>
                    <a:p>
                      <a:pPr>
                        <a:defRPr sz="880">
                          <a:solidFill>
                            <a:srgbClr val="1E293B"/>
                          </a:solidFill>
                          <a:latin typeface="Arial"/>
                        </a:defRPr>
                      </a:pPr>
                      <a:r>
                        <a:t>Doorbot / Ring</a:t>
                      </a:r>
                    </a:p>
                    <a:p>
                      <a:r>
                        <a:t>[Margin check: Passed]</a:t>
                      </a:r>
                    </a:p>
                  </a:txBody>
                  <a:tcPr marL="73152" marR="73152" marT="36576" marB="36576">
                    <a:solidFill>
                      <a:srgbClr val="FFFFFF"/>
                    </a:solidFill>
                  </a:tcPr>
                </a:tc>
                <a:tc>
                  <a:txBody>
                    <a:bodyPr/>
                    <a:lstStyle/>
                    <a:p>
                      <a:pPr>
                        <a:defRPr sz="880">
                          <a:solidFill>
                            <a:srgbClr val="1E293B"/>
                          </a:solidFill>
                          <a:latin typeface="Arial"/>
                        </a:defRPr>
                      </a:pPr>
                      <a:r>
                        <a:t>None (Full 5 stages present with metrics &amp; CTA)</a:t>
                      </a:r>
                    </a:p>
                  </a:txBody>
                  <a:tcPr marL="73152" marR="73152" marT="36576" marB="36576">
                    <a:solidFill>
                      <a:srgbClr val="FFFFFF"/>
                    </a:solidFill>
                  </a:tcPr>
                </a:tc>
                <a:tc>
                  <a:txBody>
                    <a:bodyPr/>
                    <a:lstStyle/>
                    <a:p>
                      <a:pPr algn="ctr">
                        <a:defRPr sz="880" b="1">
                          <a:solidFill>
                            <a:srgbClr val="10B981"/>
                          </a:solidFill>
                          <a:latin typeface="Arial"/>
                        </a:defRPr>
                      </a:pPr>
                      <a:r>
                        <a:t>INVESTOR READY</a:t>
                      </a:r>
                    </a:p>
                    <a:p>
                      <a:r>
                        <a:t>(High Conviction)</a:t>
                      </a:r>
                    </a:p>
                  </a:txBody>
                  <a:tcPr marL="73152" marR="73152" marT="36576" marB="36576">
                    <a:solidFill>
                      <a:srgbClr val="FFFFFF"/>
                    </a:solidFill>
                  </a:tcPr>
                </a:tc>
              </a:tr>
              <a:tr h="1177290">
                <a:tc>
                  <a:txBody>
                    <a:bodyPr/>
                    <a:lstStyle/>
                    <a:p>
                      <a:pPr>
                        <a:defRPr sz="880" b="1">
                          <a:solidFill>
                            <a:srgbClr val="1E293B"/>
                          </a:solidFill>
                          <a:latin typeface="Arial"/>
                        </a:defRPr>
                      </a:pPr>
                      <a:r>
                        <a:t>Scenario B: Unsubstantiated Tech</a:t>
                      </a:r>
                    </a:p>
                    <a:p>
                      <a:r>
                        <a:t>('We built a revolutionary AI app that will disrupt the world')</a:t>
                      </a:r>
                    </a:p>
                  </a:txBody>
                  <a:tcPr marL="73152" marR="73152" marT="36576" marB="36576">
                    <a:solidFill>
                      <a:srgbClr val="F8FAFC"/>
                    </a:solidFill>
                  </a:tcPr>
                </a:tc>
                <a:tc>
                  <a:txBody>
                    <a:bodyPr/>
                    <a:lstStyle/>
                    <a:p>
                      <a:pPr algn="ctr">
                        <a:defRPr sz="880" b="1">
                          <a:solidFill>
                            <a:srgbClr val="801818"/>
                          </a:solidFill>
                          <a:latin typeface="Arial"/>
                        </a:defRPr>
                      </a:pPr>
                      <a:r>
                        <a:t>38 / 100</a:t>
                      </a:r>
                    </a:p>
                    <a:p>
                      <a:r>
                        <a:t>(High Risk)</a:t>
                      </a:r>
                    </a:p>
                  </a:txBody>
                  <a:tcPr marL="73152" marR="73152" marT="36576" marB="36576">
                    <a:solidFill>
                      <a:srgbClr val="F8FAFC"/>
                    </a:solidFill>
                  </a:tcPr>
                </a:tc>
                <a:tc>
                  <a:txBody>
                    <a:bodyPr/>
                    <a:lstStyle/>
                    <a:p>
                      <a:pPr>
                        <a:defRPr sz="880">
                          <a:solidFill>
                            <a:srgbClr val="1E293B"/>
                          </a:solidFill>
                          <a:latin typeface="Arial"/>
                        </a:defRPr>
                      </a:pPr>
                      <a:r>
                        <a:t>Simple Sugars</a:t>
                      </a:r>
                    </a:p>
                    <a:p>
                      <a:r>
                        <a:t>[Weak Match: 31%]</a:t>
                      </a:r>
                    </a:p>
                  </a:txBody>
                  <a:tcPr marL="73152" marR="73152" marT="36576" marB="36576">
                    <a:solidFill>
                      <a:srgbClr val="F8FAFC"/>
                    </a:solidFill>
                  </a:tcPr>
                </a:tc>
                <a:tc>
                  <a:txBody>
                    <a:bodyPr/>
                    <a:lstStyle/>
                    <a:p>
                      <a:pPr>
                        <a:defRPr sz="880">
                          <a:solidFill>
                            <a:srgbClr val="1E293B"/>
                          </a:solidFill>
                          <a:latin typeface="Arial"/>
                        </a:defRPr>
                      </a:pPr>
                      <a:r>
                        <a:t>Copa Di Vino</a:t>
                      </a:r>
                    </a:p>
                    <a:p>
                      <a:r>
                        <a:t>[Ego &amp; No Margins: 85%]</a:t>
                      </a:r>
                    </a:p>
                  </a:txBody>
                  <a:tcPr marL="73152" marR="73152" marT="36576" marB="36576">
                    <a:solidFill>
                      <a:srgbClr val="F8FAFC"/>
                    </a:solidFill>
                  </a:tcPr>
                </a:tc>
                <a:tc>
                  <a:txBody>
                    <a:bodyPr/>
                    <a:lstStyle/>
                    <a:p>
                      <a:pPr>
                        <a:defRPr sz="880">
                          <a:solidFill>
                            <a:srgbClr val="1E293B"/>
                          </a:solidFill>
                          <a:latin typeface="Arial"/>
                        </a:defRPr>
                      </a:pPr>
                      <a:r>
                        <a:t>Fatal: Zero metrics, vague claims, absent CTA close</a:t>
                      </a:r>
                    </a:p>
                  </a:txBody>
                  <a:tcPr marL="73152" marR="73152" marT="36576" marB="36576">
                    <a:solidFill>
                      <a:srgbClr val="F8FAFC"/>
                    </a:solidFill>
                  </a:tcPr>
                </a:tc>
                <a:tc>
                  <a:txBody>
                    <a:bodyPr/>
                    <a:lstStyle/>
                    <a:p>
                      <a:pPr algn="ctr">
                        <a:defRPr sz="880" b="1">
                          <a:solidFill>
                            <a:srgbClr val="801818"/>
                          </a:solidFill>
                          <a:latin typeface="Arial"/>
                        </a:defRPr>
                      </a:pPr>
                      <a:r>
                        <a:t>REJECTED</a:t>
                      </a:r>
                    </a:p>
                    <a:p>
                      <a:r>
                        <a:t>(Requires Overhaul)</a:t>
                      </a:r>
                    </a:p>
                  </a:txBody>
                  <a:tcPr marL="73152" marR="73152" marT="36576" marB="36576">
                    <a:solidFill>
                      <a:srgbClr val="F8FAFC"/>
                    </a:solidFill>
                  </a:tcPr>
                </a:tc>
              </a:tr>
              <a:tr h="1177290">
                <a:tc>
                  <a:txBody>
                    <a:bodyPr/>
                    <a:lstStyle/>
                    <a:p>
                      <a:pPr>
                        <a:defRPr sz="880" b="1">
                          <a:solidFill>
                            <a:srgbClr val="1E293B"/>
                          </a:solidFill>
                          <a:latin typeface="Arial"/>
                        </a:defRPr>
                      </a:pPr>
                      <a:r>
                        <a:t>Scenario C: Consumer Hardware</a:t>
                      </a:r>
                    </a:p>
                    <a:p>
                      <a:r>
                        <a:t>('Smart water bottle with temperature lock, $180k sales, no ask')</a:t>
                      </a:r>
                    </a:p>
                  </a:txBody>
                  <a:tcPr marL="73152" marR="73152" marT="36576" marB="36576">
                    <a:solidFill>
                      <a:srgbClr val="FFFFFF"/>
                    </a:solidFill>
                  </a:tcPr>
                </a:tc>
                <a:tc>
                  <a:txBody>
                    <a:bodyPr/>
                    <a:lstStyle/>
                    <a:p>
                      <a:pPr algn="ctr">
                        <a:defRPr sz="880" b="1">
                          <a:solidFill>
                            <a:srgbClr val="D97706"/>
                          </a:solidFill>
                          <a:latin typeface="Arial"/>
                        </a:defRPr>
                      </a:pPr>
                      <a:r>
                        <a:t>64 / 100</a:t>
                      </a:r>
                    </a:p>
                    <a:p>
                      <a:r>
                        <a:t>(Moderate)</a:t>
                      </a:r>
                    </a:p>
                  </a:txBody>
                  <a:tcPr marL="73152" marR="73152" marT="36576" marB="36576">
                    <a:solidFill>
                      <a:srgbClr val="FFFFFF"/>
                    </a:solidFill>
                  </a:tcPr>
                </a:tc>
                <a:tc>
                  <a:txBody>
                    <a:bodyPr/>
                    <a:lstStyle/>
                    <a:p>
                      <a:pPr>
                        <a:defRPr sz="880">
                          <a:solidFill>
                            <a:srgbClr val="1E293B"/>
                          </a:solidFill>
                          <a:latin typeface="Arial"/>
                        </a:defRPr>
                      </a:pPr>
                      <a:r>
                        <a:t>Scrub Daddy</a:t>
                      </a:r>
                    </a:p>
                    <a:p>
                      <a:r>
                        <a:t>[Hero Product Match: 76%]</a:t>
                      </a:r>
                    </a:p>
                  </a:txBody>
                  <a:tcPr marL="73152" marR="73152" marT="36576" marB="36576">
                    <a:solidFill>
                      <a:srgbClr val="FFFFFF"/>
                    </a:solidFill>
                  </a:tcPr>
                </a:tc>
                <a:tc>
                  <a:txBody>
                    <a:bodyPr/>
                    <a:lstStyle/>
                    <a:p>
                      <a:pPr>
                        <a:defRPr sz="880">
                          <a:solidFill>
                            <a:srgbClr val="1E293B"/>
                          </a:solidFill>
                          <a:latin typeface="Arial"/>
                        </a:defRPr>
                      </a:pPr>
                      <a:r>
                        <a:t>Drop Stop</a:t>
                      </a:r>
                    </a:p>
                    <a:p>
                      <a:r>
                        <a:t>[Single SKU Risk: 62%]</a:t>
                      </a:r>
                    </a:p>
                  </a:txBody>
                  <a:tcPr marL="73152" marR="73152" marT="36576" marB="36576">
                    <a:solidFill>
                      <a:srgbClr val="FFFFFF"/>
                    </a:solidFill>
                  </a:tcPr>
                </a:tc>
                <a:tc>
                  <a:txBody>
                    <a:bodyPr/>
                    <a:lstStyle/>
                    <a:p>
                      <a:pPr>
                        <a:defRPr sz="880">
                          <a:solidFill>
                            <a:srgbClr val="1E293B"/>
                          </a:solidFill>
                          <a:latin typeface="Arial"/>
                        </a:defRPr>
                      </a:pPr>
                      <a:r>
                        <a:t>Missing clear valuation and investor closing ask</a:t>
                      </a:r>
                    </a:p>
                  </a:txBody>
                  <a:tcPr marL="73152" marR="73152" marT="36576" marB="36576">
                    <a:solidFill>
                      <a:srgbClr val="FFFFFF"/>
                    </a:solidFill>
                  </a:tcPr>
                </a:tc>
                <a:tc>
                  <a:txBody>
                    <a:bodyPr/>
                    <a:lstStyle/>
                    <a:p>
                      <a:pPr algn="ctr">
                        <a:defRPr sz="880" b="1">
                          <a:solidFill>
                            <a:srgbClr val="D97706"/>
                          </a:solidFill>
                          <a:latin typeface="Arial"/>
                        </a:defRPr>
                      </a:pPr>
                      <a:r>
                        <a:t>CONDITIONAL</a:t>
                      </a:r>
                    </a:p>
                    <a:p>
                      <a:r>
                        <a:t>(Needs Close)</a:t>
                      </a:r>
                    </a:p>
                  </a:txBody>
                  <a:tcPr marL="73152" marR="73152" marT="36576" marB="36576">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11. Modern Glassmorphic UI &amp; Cloud Deployment</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13</a:t>
            </a:r>
          </a:p>
        </p:txBody>
      </p:sp>
      <p:sp>
        <p:nvSpPr>
          <p:cNvPr id="10" name="Rounded Rectangle 9"/>
          <p:cNvSpPr/>
          <p:nvPr/>
        </p:nvSpPr>
        <p:spPr>
          <a:xfrm>
            <a:off x="731520" y="1325880"/>
            <a:ext cx="5166360" cy="4709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09728"/>
          <a:lstStyle/>
          <a:p>
            <a:pPr algn="ctr">
              <a:defRPr sz="1500" b="1">
                <a:solidFill>
                  <a:srgbClr val="801818"/>
                </a:solidFill>
                <a:latin typeface="Georgia"/>
              </a:defRPr>
            </a:pPr>
            <a:r>
              <a:t>Ultra-Modern UI / UX Architecture</a:t>
            </a:r>
          </a:p>
          <a:p>
            <a:pPr>
              <a:spcBef>
                <a:spcPts val="300"/>
              </a:spcBef>
              <a:defRPr sz="919">
                <a:solidFill>
                  <a:srgbClr val="1E293B"/>
                </a:solidFill>
                <a:latin typeface="Arial"/>
              </a:defRPr>
            </a:pPr>
            <a:r>
              <a:t>Dark-Glassmorphic Aesthetic: Ambient emerald and amber glows (#00FF87, #FFB800) with backdrop blur panels.</a:t>
            </a:r>
          </a:p>
          <a:p>
            <a:pPr>
              <a:spcBef>
                <a:spcPts val="300"/>
              </a:spcBef>
              <a:defRPr sz="919">
                <a:solidFill>
                  <a:srgbClr val="1E293B"/>
                </a:solidFill>
                <a:latin typeface="Arial"/>
              </a:defRPr>
            </a:pPr>
            <a:r>
              <a:t>Dynamic SVG Score Ring: Animated circular gauge visually displaying 0-100 investability with color-coded status badges.</a:t>
            </a:r>
          </a:p>
          <a:p>
            <a:pPr>
              <a:spcBef>
                <a:spcPts val="300"/>
              </a:spcBef>
              <a:defRPr sz="919">
                <a:solidFill>
                  <a:srgbClr val="1E293B"/>
                </a:solidFill>
                <a:latin typeface="Arial"/>
              </a:defRPr>
            </a:pPr>
            <a:r>
              <a:t>5 Interactive Results Tabs:</a:t>
            </a:r>
          </a:p>
          <a:p>
            <a:pPr>
              <a:spcBef>
                <a:spcPts val="300"/>
              </a:spcBef>
              <a:defRPr sz="919">
                <a:solidFill>
                  <a:srgbClr val="1E293B"/>
                </a:solidFill>
                <a:latin typeface="Arial"/>
              </a:defRPr>
            </a:pPr>
            <a:r>
              <a:t>  • 📊 Multi-Factor Score Breakdown</a:t>
            </a:r>
          </a:p>
          <a:p>
            <a:pPr>
              <a:spcBef>
                <a:spcPts val="300"/>
              </a:spcBef>
              <a:defRPr sz="919">
                <a:solidFill>
                  <a:srgbClr val="1E293B"/>
                </a:solidFill>
                <a:latin typeface="Arial"/>
              </a:defRPr>
            </a:pPr>
            <a:r>
              <a:t>  • 🦈 Shark Tank Benchmarks (Funded vs. Rejected side-by-side)</a:t>
            </a:r>
          </a:p>
          <a:p>
            <a:pPr>
              <a:spcBef>
                <a:spcPts val="300"/>
              </a:spcBef>
              <a:defRPr sz="919">
                <a:solidFill>
                  <a:srgbClr val="1E293B"/>
                </a:solidFill>
                <a:latin typeface="Arial"/>
              </a:defRPr>
            </a:pPr>
            <a:r>
              <a:t>  • 💬 Shark Panel Critiques (Cuban, O'Leary, Greiner)</a:t>
            </a:r>
          </a:p>
          <a:p>
            <a:pPr>
              <a:spcBef>
                <a:spcPts val="300"/>
              </a:spcBef>
              <a:defRPr sz="919">
                <a:solidFill>
                  <a:srgbClr val="1E293B"/>
                </a:solidFill>
                <a:latin typeface="Arial"/>
              </a:defRPr>
            </a:pPr>
            <a:r>
              <a:t>  • ✍️ Shark-Grade 5-Part Script Rewrite with 1-Click Copy</a:t>
            </a:r>
          </a:p>
          <a:p>
            <a:pPr>
              <a:spcBef>
                <a:spcPts val="300"/>
              </a:spcBef>
              <a:defRPr sz="919">
                <a:solidFill>
                  <a:srgbClr val="1E293B"/>
                </a:solidFill>
                <a:latin typeface="Arial"/>
              </a:defRPr>
            </a:pPr>
            <a:r>
              <a:t>  • 🚫 Fatal Weak Points &amp; Improvement Roadmap</a:t>
            </a:r>
          </a:p>
          <a:p>
            <a:pPr>
              <a:spcBef>
                <a:spcPts val="300"/>
              </a:spcBef>
              <a:defRPr sz="919">
                <a:solidFill>
                  <a:srgbClr val="1E293B"/>
                </a:solidFill>
                <a:latin typeface="Arial"/>
              </a:defRPr>
            </a:pPr>
            <a:r>
              <a:t>1-Click Test Scenarios: Pre-loaded presets (SaaS, Hardware, Pitch with Flaws) for effortless live university demo.</a:t>
            </a:r>
          </a:p>
        </p:txBody>
      </p:sp>
      <p:sp>
        <p:nvSpPr>
          <p:cNvPr id="11" name="Rounded Rectangle 10"/>
          <p:cNvSpPr/>
          <p:nvPr/>
        </p:nvSpPr>
        <p:spPr>
          <a:xfrm>
            <a:off x="6172200" y="1325880"/>
            <a:ext cx="5287975" cy="470916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09728"/>
          <a:lstStyle/>
          <a:p>
            <a:pPr algn="ctr">
              <a:defRPr sz="1500" b="1">
                <a:solidFill>
                  <a:srgbClr val="166534"/>
                </a:solidFill>
                <a:latin typeface="Georgia"/>
              </a:defRPr>
            </a:pPr>
            <a:r>
              <a:t>Production Edge Deployment Metrics</a:t>
            </a:r>
          </a:p>
          <a:p>
            <a:pPr>
              <a:spcBef>
                <a:spcPts val="600"/>
              </a:spcBef>
              <a:defRPr sz="950">
                <a:solidFill>
                  <a:srgbClr val="1E293B"/>
                </a:solidFill>
                <a:latin typeface="Arial"/>
              </a:defRPr>
            </a:pPr>
            <a:r>
              <a:t>✔  Live Production URL: https://pitchiq-chi.vercel.app</a:t>
            </a:r>
          </a:p>
          <a:p>
            <a:pPr>
              <a:spcBef>
                <a:spcPts val="600"/>
              </a:spcBef>
              <a:defRPr sz="950">
                <a:solidFill>
                  <a:srgbClr val="1E293B"/>
                </a:solidFill>
                <a:latin typeface="Arial"/>
              </a:defRPr>
            </a:pPr>
            <a:r>
              <a:t>✔  Source Code: GitHub (github.com/PARTHBAVALIYA/pitchiq)</a:t>
            </a:r>
          </a:p>
          <a:p>
            <a:pPr>
              <a:spcBef>
                <a:spcPts val="600"/>
              </a:spcBef>
              <a:defRPr sz="950">
                <a:solidFill>
                  <a:srgbClr val="1E293B"/>
                </a:solidFill>
                <a:latin typeface="Arial"/>
              </a:defRPr>
            </a:pPr>
            <a:r>
              <a:t>✔  Production Bundle Size: 57.57 kB (JS gzipped) / 4.32 kB (CSS)</a:t>
            </a:r>
          </a:p>
          <a:p>
            <a:pPr>
              <a:spcBef>
                <a:spcPts val="600"/>
              </a:spcBef>
              <a:defRPr sz="950">
                <a:solidFill>
                  <a:srgbClr val="1E293B"/>
                </a:solidFill>
                <a:latin typeface="Arial"/>
              </a:defRPr>
            </a:pPr>
            <a:r>
              <a:t>✔  Inference &amp; Retrieval Latency: &lt; 1.2 seconds end-to-end</a:t>
            </a:r>
          </a:p>
          <a:p>
            <a:pPr>
              <a:spcBef>
                <a:spcPts val="600"/>
              </a:spcBef>
              <a:defRPr sz="950">
                <a:solidFill>
                  <a:srgbClr val="1E293B"/>
                </a:solidFill>
                <a:latin typeface="Arial"/>
              </a:defRPr>
            </a:pPr>
            <a:r>
              <a:t>✔  Deployment Infrastructure: Vercel Edge Serverless Network</a:t>
            </a:r>
          </a:p>
          <a:p>
            <a:pPr>
              <a:spcBef>
                <a:spcPts val="600"/>
              </a:spcBef>
              <a:defRPr sz="950">
                <a:solidFill>
                  <a:srgbClr val="1E293B"/>
                </a:solidFill>
                <a:latin typeface="Arial"/>
              </a:defRPr>
            </a:pPr>
            <a:r>
              <a:t>✔  Device Cross-Compatibility: Responsive on Desktop, Tablet &amp; Mobile</a:t>
            </a:r>
          </a:p>
          <a:p>
            <a:pPr>
              <a:spcBef>
                <a:spcPts val="600"/>
              </a:spcBef>
              <a:defRPr sz="950">
                <a:solidFill>
                  <a:srgbClr val="1E293B"/>
                </a:solidFill>
                <a:latin typeface="Arial"/>
              </a:defRPr>
            </a:pPr>
            <a:r>
              <a:t>✔  Zero API Cost: Client-side retrieval executes without recurring third-party tokens or GPU hosting bills.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12. Conclusion &amp; Academic Contributions</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14</a:t>
            </a:r>
          </a:p>
        </p:txBody>
      </p:sp>
      <p:sp>
        <p:nvSpPr>
          <p:cNvPr id="10" name="Rounded Rectangle 9"/>
          <p:cNvSpPr/>
          <p:nvPr/>
        </p:nvSpPr>
        <p:spPr>
          <a:xfrm>
            <a:off x="731520" y="1325880"/>
            <a:ext cx="10728655" cy="841248"/>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166534"/>
                </a:solidFill>
                <a:latin typeface="Arial"/>
              </a:defRPr>
            </a:pPr>
            <a:r>
              <a:t>✔  Transformation from Toy Checker to Grounded Engine: </a:t>
            </a:r>
            <a:r>
              <a:rPr b="0">
                <a:solidFill>
                  <a:srgbClr val="1E293B"/>
                </a:solidFill>
              </a:rPr>
              <a:t>Elevated PitchIQ into a knowledge-grounded Case-Based Retrieval (RAG) system powered by 200+ historical Shark Tank and venture capital deals.</a:t>
            </a:r>
          </a:p>
        </p:txBody>
      </p:sp>
      <p:sp>
        <p:nvSpPr>
          <p:cNvPr id="11" name="Rounded Rectangle 10"/>
          <p:cNvSpPr/>
          <p:nvPr/>
        </p:nvSpPr>
        <p:spPr>
          <a:xfrm>
            <a:off x="731520" y="2258568"/>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  Explainable &amp; Traceable Diagnostic Feedback: </a:t>
            </a:r>
            <a:r>
              <a:rPr b="0">
                <a:solidFill>
                  <a:srgbClr val="1E293B"/>
                </a:solidFill>
              </a:rPr>
              <a:t>Unlike black-box generative AI models that produce subjective text, PitchIQ v2.0 links every deduction directly to an empirical deal precedent or structural rule violation.</a:t>
            </a:r>
          </a:p>
        </p:txBody>
      </p:sp>
      <p:sp>
        <p:nvSpPr>
          <p:cNvPr id="12" name="Rounded Rectangle 11"/>
          <p:cNvSpPr/>
          <p:nvPr/>
        </p:nvSpPr>
        <p:spPr>
          <a:xfrm>
            <a:off x="731520" y="3191256"/>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  Multi-Perspective Investor Evaluation: </a:t>
            </a:r>
            <a:r>
              <a:rPr b="0">
                <a:solidFill>
                  <a:srgbClr val="1E293B"/>
                </a:solidFill>
              </a:rPr>
              <a:t>Pioneered automated investor stress-testing by simulating Tech, Margin, and Retail investor perspectives in parallel.</a:t>
            </a:r>
          </a:p>
        </p:txBody>
      </p:sp>
      <p:sp>
        <p:nvSpPr>
          <p:cNvPr id="13" name="Rounded Rectangle 12"/>
          <p:cNvSpPr/>
          <p:nvPr/>
        </p:nvSpPr>
        <p:spPr>
          <a:xfrm>
            <a:off x="731520" y="4123944"/>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  Production Deployment at Zero Operating Cost: </a:t>
            </a:r>
            <a:r>
              <a:rPr b="0">
                <a:solidFill>
                  <a:srgbClr val="1E293B"/>
                </a:solidFill>
              </a:rPr>
              <a:t>Delivered a responsive web application on Vercel Edge with sub-second performance, democratizing pitch coaching for student founders.</a:t>
            </a:r>
          </a:p>
        </p:txBody>
      </p:sp>
      <p:sp>
        <p:nvSpPr>
          <p:cNvPr id="14" name="Rounded Rectangle 13"/>
          <p:cNvSpPr/>
          <p:nvPr/>
        </p:nvSpPr>
        <p:spPr>
          <a:xfrm>
            <a:off x="731520" y="5056632"/>
            <a:ext cx="10728655" cy="84124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00" b="1">
                <a:solidFill>
                  <a:srgbClr val="801818"/>
                </a:solidFill>
                <a:latin typeface="Arial"/>
              </a:defRPr>
            </a:pPr>
            <a:r>
              <a:t>✔  Project Deliverables Achieved: </a:t>
            </a:r>
            <a:r>
              <a:rPr b="0">
                <a:solidFill>
                  <a:srgbClr val="1E293B"/>
                </a:solidFill>
              </a:rPr>
              <a:t>Successfully completed live system implementation, comprehensive IEEE research paper, and Silver Oak University major project compliance (Project ID: M2_CSE_027).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13. Future Work &amp; Technical Roadmap</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15</a:t>
            </a:r>
          </a:p>
        </p:txBody>
      </p:sp>
      <p:sp>
        <p:nvSpPr>
          <p:cNvPr id="10" name="Rounded Rectangle 9"/>
          <p:cNvSpPr/>
          <p:nvPr/>
        </p:nvSpPr>
        <p:spPr>
          <a:xfrm>
            <a:off x="731520" y="1325880"/>
            <a:ext cx="10728655" cy="10241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rIns="182880" tIns="109728" bIns="73152"/>
          <a:lstStyle/>
          <a:p>
            <a:pPr algn="ctr">
              <a:defRPr sz="1100" b="1">
                <a:solidFill>
                  <a:srgbClr val="801818"/>
                </a:solidFill>
                <a:latin typeface="Arial"/>
              </a:defRPr>
            </a:pPr>
            <a:r>
              <a:t>Dense Vector Embeddings &amp; Hybrid RAG:</a:t>
            </a:r>
          </a:p>
          <a:p>
            <a:pPr>
              <a:spcBef>
                <a:spcPts val="200"/>
              </a:spcBef>
              <a:defRPr sz="950">
                <a:solidFill>
                  <a:srgbClr val="1E293B"/>
                </a:solidFill>
                <a:latin typeface="Arial"/>
              </a:defRPr>
            </a:pPr>
            <a:r>
              <a:t>Upgrade from sparse Jaccard matching to dense vector embeddings using Google text-embedding-004 and Milvus/FAISS vector database for deeper semantic retrieval.</a:t>
            </a:r>
          </a:p>
        </p:txBody>
      </p:sp>
      <p:sp>
        <p:nvSpPr>
          <p:cNvPr id="11" name="Oval 10"/>
          <p:cNvSpPr/>
          <p:nvPr/>
        </p:nvSpPr>
        <p:spPr>
          <a:xfrm>
            <a:off x="868680" y="1600200"/>
            <a:ext cx="475488" cy="475488"/>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R1</a:t>
            </a:r>
          </a:p>
        </p:txBody>
      </p:sp>
      <p:sp>
        <p:nvSpPr>
          <p:cNvPr id="12" name="Rounded Rectangle 11"/>
          <p:cNvSpPr/>
          <p:nvPr/>
        </p:nvSpPr>
        <p:spPr>
          <a:xfrm>
            <a:off x="731520" y="2496312"/>
            <a:ext cx="10728655" cy="10241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rIns="182880" tIns="109728" bIns="73152"/>
          <a:lstStyle/>
          <a:p>
            <a:pPr algn="ctr">
              <a:defRPr sz="1100" b="1">
                <a:solidFill>
                  <a:srgbClr val="801818"/>
                </a:solidFill>
                <a:latin typeface="Arial"/>
              </a:defRPr>
            </a:pPr>
            <a:r>
              <a:t>Multimodal Audio Speech-to-Text Pipeline:</a:t>
            </a:r>
          </a:p>
          <a:p>
            <a:pPr>
              <a:spcBef>
                <a:spcPts val="200"/>
              </a:spcBef>
              <a:defRPr sz="950">
                <a:solidFill>
                  <a:srgbClr val="1E293B"/>
                </a:solidFill>
                <a:latin typeface="Arial"/>
              </a:defRPr>
            </a:pPr>
            <a:r>
              <a:t>Integrate Web Audio API with Whisper AI to evaluate live spoken pitches for words-per-minute (WPM), hesitation filler words ('um', 'ah'), and vocal pitch modulation.</a:t>
            </a:r>
          </a:p>
        </p:txBody>
      </p:sp>
      <p:sp>
        <p:nvSpPr>
          <p:cNvPr id="13" name="Oval 12"/>
          <p:cNvSpPr/>
          <p:nvPr/>
        </p:nvSpPr>
        <p:spPr>
          <a:xfrm>
            <a:off x="868680" y="2770632"/>
            <a:ext cx="475488" cy="475488"/>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R2</a:t>
            </a:r>
          </a:p>
        </p:txBody>
      </p:sp>
      <p:sp>
        <p:nvSpPr>
          <p:cNvPr id="14" name="Rounded Rectangle 13"/>
          <p:cNvSpPr/>
          <p:nvPr/>
        </p:nvSpPr>
        <p:spPr>
          <a:xfrm>
            <a:off x="731520" y="3666744"/>
            <a:ext cx="10728655" cy="10241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rIns="182880" tIns="109728" bIns="73152"/>
          <a:lstStyle/>
          <a:p>
            <a:pPr algn="ctr">
              <a:defRPr sz="1100" b="1">
                <a:solidFill>
                  <a:srgbClr val="801818"/>
                </a:solidFill>
                <a:latin typeface="Arial"/>
              </a:defRPr>
            </a:pPr>
            <a:r>
              <a:t>Computer Vision Posture &amp; Eye Contact Analysis:</a:t>
            </a:r>
          </a:p>
          <a:p>
            <a:pPr>
              <a:spcBef>
                <a:spcPts val="200"/>
              </a:spcBef>
              <a:defRPr sz="950">
                <a:solidFill>
                  <a:srgbClr val="1E293B"/>
                </a:solidFill>
                <a:latin typeface="Arial"/>
              </a:defRPr>
            </a:pPr>
            <a:r>
              <a:t>Deploy MediaPipe client-side computer vision models to evaluate camera eye contact, shoulder stability, and confident hand gestures.</a:t>
            </a:r>
          </a:p>
        </p:txBody>
      </p:sp>
      <p:sp>
        <p:nvSpPr>
          <p:cNvPr id="15" name="Oval 14"/>
          <p:cNvSpPr/>
          <p:nvPr/>
        </p:nvSpPr>
        <p:spPr>
          <a:xfrm>
            <a:off x="868680" y="3941064"/>
            <a:ext cx="475488" cy="475488"/>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R3</a:t>
            </a:r>
          </a:p>
        </p:txBody>
      </p:sp>
      <p:sp>
        <p:nvSpPr>
          <p:cNvPr id="16" name="Rounded Rectangle 15"/>
          <p:cNvSpPr/>
          <p:nvPr/>
        </p:nvSpPr>
        <p:spPr>
          <a:xfrm>
            <a:off x="731520" y="4837176"/>
            <a:ext cx="10728655" cy="102412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rIns="182880" tIns="109728" bIns="73152"/>
          <a:lstStyle/>
          <a:p>
            <a:pPr algn="ctr">
              <a:defRPr sz="1100" b="1">
                <a:solidFill>
                  <a:srgbClr val="801818"/>
                </a:solidFill>
                <a:latin typeface="Arial"/>
              </a:defRPr>
            </a:pPr>
            <a:r>
              <a:t>Cloud User Profiles &amp; Pitch Version History:</a:t>
            </a:r>
          </a:p>
          <a:p>
            <a:pPr>
              <a:spcBef>
                <a:spcPts val="200"/>
              </a:spcBef>
              <a:defRPr sz="950">
                <a:solidFill>
                  <a:srgbClr val="1E293B"/>
                </a:solidFill>
                <a:latin typeface="Arial"/>
              </a:defRPr>
            </a:pPr>
            <a:r>
              <a:t>Integrate Supabase / PostgreSQL backend to persist presenter drafts, tracking pitch progression and investability trajectory across revisions.</a:t>
            </a:r>
          </a:p>
        </p:txBody>
      </p:sp>
      <p:sp>
        <p:nvSpPr>
          <p:cNvPr id="17" name="Oval 16"/>
          <p:cNvSpPr/>
          <p:nvPr/>
        </p:nvSpPr>
        <p:spPr>
          <a:xfrm>
            <a:off x="868680" y="5111496"/>
            <a:ext cx="475488" cy="475488"/>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R4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15568"/>
            <a:ext cx="10728655" cy="22860"/>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7315200" cy="256032"/>
          </a:xfrm>
          <a:prstGeom prst="rect">
            <a:avLst/>
          </a:prstGeom>
          <a:noFill/>
        </p:spPr>
        <p:txBody>
          <a:bodyPr wrap="none" lIns="0" tIns="0" rIns="0" bIns="0">
            <a:spAutoFit/>
          </a:bodyPr>
          <a:lstStyle/>
          <a:p>
            <a:pPr>
              <a:defRPr sz="900" b="1">
                <a:solidFill>
                  <a:srgbClr val="D97706"/>
                </a:solidFill>
                <a:latin typeface="Arial"/>
              </a:defRPr>
            </a:pPr>
            <a:r>
              <a:t>FINAL YEAR MAJOR PROJECT (M2_CSE_027)</a:t>
            </a:r>
          </a:p>
        </p:txBody>
      </p:sp>
      <p:sp>
        <p:nvSpPr>
          <p:cNvPr id="4" name="TextBox 3"/>
          <p:cNvSpPr txBox="1"/>
          <p:nvPr/>
        </p:nvSpPr>
        <p:spPr>
          <a:xfrm>
            <a:off x="731520" y="502920"/>
            <a:ext cx="7772400" cy="594360"/>
          </a:xfrm>
          <a:prstGeom prst="rect">
            <a:avLst/>
          </a:prstGeom>
          <a:noFill/>
        </p:spPr>
        <p:txBody>
          <a:bodyPr wrap="square" lIns="0" tIns="0" rIns="0" bIns="0">
            <a:spAutoFit/>
          </a:bodyPr>
          <a:lstStyle/>
          <a:p>
            <a:pPr>
              <a:defRPr sz="2200" b="1">
                <a:solidFill>
                  <a:srgbClr val="1E293B"/>
                </a:solidFill>
                <a:latin typeface="Georgia"/>
              </a:defRPr>
            </a:pPr>
            <a:r>
              <a:t>14. References (IEEE Format)</a:t>
            </a:r>
          </a:p>
        </p:txBody>
      </p:sp>
      <p:sp>
        <p:nvSpPr>
          <p:cNvPr id="5" name="TextBox 4"/>
          <p:cNvSpPr txBox="1"/>
          <p:nvPr/>
        </p:nvSpPr>
        <p:spPr>
          <a:xfrm>
            <a:off x="8412480" y="292608"/>
            <a:ext cx="3047695" cy="777240"/>
          </a:xfrm>
          <a:prstGeom prst="rect">
            <a:avLst/>
          </a:prstGeom>
          <a:noFill/>
        </p:spPr>
        <p:txBody>
          <a:bodyPr wrap="square" rIns="0" tIns="0" bIns="0">
            <a:spAutoFit/>
          </a:bodyPr>
          <a:lstStyle/>
          <a:p>
            <a:pPr algn="r">
              <a:defRPr sz="1200" b="1">
                <a:solidFill>
                  <a:srgbClr val="801818"/>
                </a:solidFill>
                <a:latin typeface="Arial"/>
              </a:defRPr>
            </a:pPr>
            <a:r>
              <a:t>SILVER OAK UNIVERSITY</a:t>
            </a:r>
          </a:p>
          <a:p>
            <a:pPr algn="r">
              <a:defRPr sz="850">
                <a:solidFill>
                  <a:srgbClr val="64748B"/>
                </a:solidFill>
                <a:latin typeface="Arial"/>
              </a:defRPr>
            </a:pPr>
            <a:r>
              <a:t>Dept. of Computer Engineering | NAAC A+</a:t>
            </a:r>
          </a:p>
        </p:txBody>
      </p:sp>
      <p:sp>
        <p:nvSpPr>
          <p:cNvPr id="6" name="Rectangle 5"/>
          <p:cNvSpPr/>
          <p:nvPr/>
        </p:nvSpPr>
        <p:spPr>
          <a:xfrm>
            <a:off x="731520" y="62636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27648"/>
            <a:ext cx="2926080" cy="256032"/>
          </a:xfrm>
          <a:prstGeom prst="rect">
            <a:avLst/>
          </a:prstGeom>
          <a:noFill/>
        </p:spPr>
        <p:txBody>
          <a:bodyPr wrap="none" lIns="0" tIns="0" rIns="0" bIns="0">
            <a:spAutoFit/>
          </a:bodyPr>
          <a:lstStyle/>
          <a:p>
            <a:pPr>
              <a:defRPr sz="850">
                <a:solidFill>
                  <a:srgbClr val="64748B"/>
                </a:solidFill>
                <a:latin typeface="Arial"/>
              </a:defRPr>
            </a:pPr>
            <a:r>
              <a:t>PitchIQ v2.0 • Project ID: M2_CSE_027</a:t>
            </a:r>
          </a:p>
        </p:txBody>
      </p:sp>
      <p:sp>
        <p:nvSpPr>
          <p:cNvPr id="8" name="TextBox 7"/>
          <p:cNvSpPr txBox="1"/>
          <p:nvPr/>
        </p:nvSpPr>
        <p:spPr>
          <a:xfrm>
            <a:off x="3474720" y="6327648"/>
            <a:ext cx="5242255" cy="256032"/>
          </a:xfrm>
          <a:prstGeom prst="rect">
            <a:avLst/>
          </a:prstGeom>
          <a:noFill/>
        </p:spPr>
        <p:txBody>
          <a:bodyPr wrap="none" lIns="0" tIns="0" rIns="0" bIns="0">
            <a:spAutoFit/>
          </a:bodyPr>
          <a:lstStyle/>
          <a:p>
            <a:pPr algn="ctr">
              <a:defRPr sz="850" b="1">
                <a:solidFill>
                  <a:srgbClr val="801818"/>
                </a:solidFill>
                <a:latin typeface="Arial"/>
              </a:defRPr>
            </a:pPr>
            <a:r>
              <a:t>DEPARTMENT OF COMPUTER ENGINEERING • SILVER OAK UNIVERSITY</a:t>
            </a:r>
          </a:p>
        </p:txBody>
      </p:sp>
      <p:sp>
        <p:nvSpPr>
          <p:cNvPr id="9" name="TextBox 8"/>
          <p:cNvSpPr txBox="1"/>
          <p:nvPr/>
        </p:nvSpPr>
        <p:spPr>
          <a:xfrm>
            <a:off x="9631375" y="6327648"/>
            <a:ext cx="1828800" cy="256032"/>
          </a:xfrm>
          <a:prstGeom prst="rect">
            <a:avLst/>
          </a:prstGeom>
          <a:noFill/>
        </p:spPr>
        <p:txBody>
          <a:bodyPr wrap="none" lIns="0" tIns="0" rIns="0" bIns="0">
            <a:spAutoFit/>
          </a:bodyPr>
          <a:lstStyle/>
          <a:p>
            <a:pPr algn="r">
              <a:defRPr sz="850">
                <a:solidFill>
                  <a:srgbClr val="64748B"/>
                </a:solidFill>
                <a:latin typeface="Arial"/>
              </a:defRPr>
            </a:pPr>
            <a:r>
              <a:t>Slide 16</a:t>
            </a:r>
          </a:p>
        </p:txBody>
      </p:sp>
      <p:sp>
        <p:nvSpPr>
          <p:cNvPr id="10" name="Rectangle 9"/>
          <p:cNvSpPr/>
          <p:nvPr/>
        </p:nvSpPr>
        <p:spPr>
          <a:xfrm>
            <a:off x="731520" y="1325880"/>
            <a:ext cx="10728655" cy="676656"/>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ctr">
              <a:defRPr sz="919">
                <a:solidFill>
                  <a:srgbClr val="1E293B"/>
                </a:solidFill>
                <a:latin typeface="Arial"/>
              </a:defRPr>
            </a:pPr>
            <a:r>
              <a:t>[1]  P. Lewis et al., "Retrieval-augmented generation for knowledge-intensive NLP tasks," in Proc. Adv. Neural Inf. Process. Syst. (NeurIPS), vol. 33, pp. 9459–9474, 2020.</a:t>
            </a:r>
          </a:p>
        </p:txBody>
      </p:sp>
      <p:sp>
        <p:nvSpPr>
          <p:cNvPr id="11" name="Rectangle 10"/>
          <p:cNvSpPr/>
          <p:nvPr/>
        </p:nvSpPr>
        <p:spPr>
          <a:xfrm>
            <a:off x="731520" y="2093976"/>
            <a:ext cx="10728655" cy="676656"/>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ctr">
              <a:defRPr sz="919">
                <a:solidFill>
                  <a:srgbClr val="1E293B"/>
                </a:solidFill>
                <a:latin typeface="Arial"/>
              </a:defRPr>
            </a:pPr>
            <a:r>
              <a:t>[2]  H. A. Hornstein, "The presentation paradox: How executive attention decay impacts B2B capital allocation," Harvard Business Review Press, vol. 48, no. 2, pp. 88–96, 2021.</a:t>
            </a:r>
          </a:p>
        </p:txBody>
      </p:sp>
      <p:sp>
        <p:nvSpPr>
          <p:cNvPr id="12" name="Rectangle 11"/>
          <p:cNvSpPr/>
          <p:nvPr/>
        </p:nvSpPr>
        <p:spPr>
          <a:xfrm>
            <a:off x="731520" y="2862072"/>
            <a:ext cx="10728655" cy="676656"/>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ctr">
              <a:defRPr sz="919">
                <a:solidFill>
                  <a:srgbClr val="1E293B"/>
                </a:solidFill>
                <a:latin typeface="Arial"/>
              </a:defRPr>
            </a:pPr>
            <a:r>
              <a:t>[3]  R. Kumar, S. Verma, and P. Sharma, "Evaluation of sales pitch persuasiveness using transformer-based NLP models," IEEE Access, vol. 10, pp. 54210–54222, May 2022.</a:t>
            </a:r>
          </a:p>
        </p:txBody>
      </p:sp>
      <p:sp>
        <p:nvSpPr>
          <p:cNvPr id="13" name="Rectangle 12"/>
          <p:cNvSpPr/>
          <p:nvPr/>
        </p:nvSpPr>
        <p:spPr>
          <a:xfrm>
            <a:off x="731520" y="3630168"/>
            <a:ext cx="10728655" cy="676656"/>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ctr">
              <a:defRPr sz="919">
                <a:solidFill>
                  <a:srgbClr val="1E293B"/>
                </a:solidFill>
                <a:latin typeface="Arial"/>
              </a:defRPr>
            </a:pPr>
            <a:r>
              <a:t>[4]  H. Wachsmuth, M. Stede, and P. Budzynska, "Argumentation quality assessment in entrepreneurial pitch decks," in Proc. 61st Annu. Meeting Assoc. Comput. Linguist. (ACL), 2023, pp. 1102–1116.</a:t>
            </a:r>
          </a:p>
        </p:txBody>
      </p:sp>
      <p:sp>
        <p:nvSpPr>
          <p:cNvPr id="14" name="Rectangle 13"/>
          <p:cNvSpPr/>
          <p:nvPr/>
        </p:nvSpPr>
        <p:spPr>
          <a:xfrm>
            <a:off x="731520" y="4398264"/>
            <a:ext cx="10728655" cy="676656"/>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ctr">
              <a:defRPr sz="919">
                <a:solidFill>
                  <a:srgbClr val="1E293B"/>
                </a:solidFill>
                <a:latin typeface="Arial"/>
              </a:defRPr>
            </a:pPr>
            <a:r>
              <a:t>[5]  M. Chen and S. Patel, "Real-time AI feedback for public speaking and presentation coaching: Design and evaluation," in Proc. ACM CHI Conf. Hum. Factors Comput. Syst., 2024, pp. 1–15.</a:t>
            </a:r>
          </a:p>
        </p:txBody>
      </p:sp>
      <p:sp>
        <p:nvSpPr>
          <p:cNvPr id="15" name="Rectangle 14"/>
          <p:cNvSpPr/>
          <p:nvPr/>
        </p:nvSpPr>
        <p:spPr>
          <a:xfrm>
            <a:off x="731520" y="5166360"/>
            <a:ext cx="10728655" cy="676656"/>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ctr">
              <a:defRPr sz="919">
                <a:solidFill>
                  <a:srgbClr val="1E293B"/>
                </a:solidFill>
                <a:latin typeface="Arial"/>
              </a:defRPr>
            </a:pPr>
            <a:r>
              <a:t>[6]  Silver Oak University, "Guidelines for B.Tech Major Project Report and Technical Paper Presentation," Department of Computer Engineering, Ahmedabad, Gujarat,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