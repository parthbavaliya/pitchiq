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01818"/>
                </a:solidFill>
                <a:latin typeface="Georgia"/>
              </a:defRPr>
            </a:pPr>
            <a:r>
              <a:t>SILVER OAK UNIVERSITY</a:t>
            </a:r>
          </a:p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DEPARTMENT OF COMPUTER ENGINEERING  |  EDUCATION TO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01168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ED7AA"/>
                </a:solidFill>
                <a:latin typeface="Arial"/>
              </a:defRPr>
            </a:pPr>
            <a:r>
              <a:t>Course Name: Final Year Major Project (CE)</a:t>
            </a:r>
          </a:p>
          <a:p>
            <a:pPr algn="ctr">
              <a:defRPr sz="2800" b="1">
                <a:solidFill>
                  <a:srgbClr val="FFFFFF"/>
                </a:solidFill>
                <a:latin typeface="Georgia"/>
              </a:defRPr>
            </a:pPr>
            <a:r>
              <a:t>PitchIQ: AI-Powered Pitch Analysis &amp; Coaching Platform</a:t>
            </a:r>
          </a:p>
          <a:p>
            <a:pPr algn="ctr">
              <a:defRPr sz="1200">
                <a:solidFill>
                  <a:srgbClr val="FEF3C7"/>
                </a:solidFill>
                <a:latin typeface="Arial"/>
              </a:defRPr>
            </a:pPr>
            <a:r>
              <a:t>Automated Communication Quality Evaluation, Weakness Detection &amp; Dynamic Script Synthesis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3474720"/>
          <a:ext cx="963046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86430"/>
                <a:gridCol w="1828800"/>
                <a:gridCol w="2986430"/>
              </a:tblGrid>
              <a:tr h="434340"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Project 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CE-2026-PIQ-01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Branch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B.Tech Computer Engineering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Project Guide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[Prof. Guide Name]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Department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Computer Engineering, SOU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280160" y="4480560"/>
          <a:ext cx="963137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962095"/>
                <a:gridCol w="45720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Sr. No.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Enrollment Number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Student Name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2402031830036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Parth Bavalliya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2402031830026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Harsh Varatiya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2402031830015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Akshat Solanki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5544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01. Introduction to Research Area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02. Background and Motivation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01752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03. Relevance and Importance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74904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04. Literature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48056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05. Research Gap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52120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06. Project Objectives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5544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07. Required Dataset, Tools &amp; Tech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28600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08. Proposed System Methodology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01752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09. Results &amp; Live Web Demonstration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74904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10. Project Conclusion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48056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11. Future Scope &amp; Roadmap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52120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12. References (IEEE Format)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Domain &amp; Area of Research: </a:t>
            </a:r>
            <a:r>
              <a:rPr b="0">
                <a:solidFill>
                  <a:srgbClr val="1E293B"/>
                </a:solidFill>
              </a:rPr>
              <a:t>Natural Language Processing (NLP), Intelligent Feedback Systems, Human-Computer Communication, and Automated Sales Enablement.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59152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What is PitchIQ? </a:t>
            </a:r>
            <a:r>
              <a:rPr b="0">
                <a:solidFill>
                  <a:srgbClr val="1E293B"/>
                </a:solidFill>
              </a:rPr>
              <a:t>PitchIQ is an intelligent, automated pitch analysis and coaching platform designed to help startup founders, sales executives, and students critically evaluate and elevate their verbal/written pitch scripts.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59152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255264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Core Functionality: </a:t>
            </a:r>
            <a:r>
              <a:rPr b="0">
                <a:solidFill>
                  <a:srgbClr val="1E293B"/>
                </a:solidFill>
              </a:rPr>
              <a:t>Analyzes user-submitted pitch scripts across 6 multi-dimensional communication criteria: Clarity, Hook Quality, Logical Structure, Persuasiveness, Call-to-Action (CTA), and Confidence.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55264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151376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Automated Remediation Engine: </a:t>
            </a:r>
            <a:r>
              <a:rPr b="0">
                <a:solidFill>
                  <a:srgbClr val="1E293B"/>
                </a:solidFill>
              </a:rPr>
              <a:t>Goes beyond superficial score metrics by detecting critical delivery mistakes (missing problem framing, vague claims without proof, absent CTA) and dynamically synthesizing a high-impact rewritten opening.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51376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047488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Live System Deployment: </a:t>
            </a:r>
            <a:r>
              <a:rPr b="0">
                <a:solidFill>
                  <a:srgbClr val="1E293B"/>
                </a:solidFill>
              </a:rPr>
              <a:t>Fully responsive web application deployed globally on Vercel at https://pitchiq-chi.vercel.app with instant sub-second response times.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047488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2. Background and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480560"/>
          </a:xfrm>
          <a:prstGeom prst="round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800" b="1">
                <a:solidFill>
                  <a:srgbClr val="801818"/>
                </a:solidFill>
                <a:latin typeface="Georgia"/>
              </a:defRPr>
            </a:pPr>
            <a:r>
              <a:t>Background &amp; The Pitch Problem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High Stakes in Pitching: Founders and sales reps have less than 30 seconds to capture attention before investors or prospects disengage.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Over 70% of Early Deals Lost: Studies show early deal drop-offs occur because pitches lack clarity, sound generic, or fail to state a compelling problem statement.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Inaccessible Coaching: Traditional professional executive speech coaching costs between $200 and $500/hour, making it out of reach for early-stage entrepreneurs and students.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Subjective Peer Feedback: Peer reviews are often biased, unstructured, and fail to pinpoint actionable syntactic and structural flaws.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800" b="1">
                <a:solidFill>
                  <a:srgbClr val="166534"/>
                </a:solidFill>
                <a:latin typeface="Georgia"/>
              </a:defRPr>
            </a:pPr>
            <a:r>
              <a:t>Motivation Behind PitchIQ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Instant Accessible AI Coaching: Provide an automated platform that evaluates pitch scripts in under 2 seconds at zero cost.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Deterministic &amp; Objective Scoring: Ensure repeatable, unbiased evaluation across 6 concrete communication dimensions rather than vague sentiments.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Real-Time Diagnostic Feedback: Immediately highlight critical pitfalls such as missing Call-To-Action (CTA), unsubstantiated claims, or overextended openings.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Actionable Transformation: Not just telling users what is wrong, but giving them an improved, ready-to-use rewritten opening personalized to their product.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Democratizing Venture Readiness: Empower students and startup founders to refine their value proposition before investor meetings.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3. Relevance and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29000" cy="4480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1E40AF"/>
                </a:solidFill>
                <a:latin typeface="Georgia"/>
              </a:defRPr>
            </a:pPr>
            <a:r>
              <a:t>New Insights Contributed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Audience-Adaptive Evaluation: Calibrates weights dynamically based on target audience (Investors, Enterprise, SMB, General).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Multi-Criteria Scoring Engine: Synthesizes Lexical analysis, syntactic brevity checks, and keyword semantics into a unified 100-point scale.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Dynamic Script Synthesis: Contextually extracts speaker name, company name, offering, and core benefits to auto-generate refined pitches.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463040"/>
            <a:ext cx="3429000" cy="448056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801818"/>
                </a:solidFill>
                <a:latin typeface="Georgia"/>
              </a:defRPr>
            </a:pPr>
            <a:r>
              <a:t>Who is it Relevant To?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Student Entrepreneurs &amp; Incubators: Perfecting pitch decks for university demo days and grant competitions.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B2B Sales Representatives: Auditing cold outreach and discovery scripts before prospect meetings.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Early-Stage Startup Founders: Preparing investor elevator pitches for angel and venture capital presentations.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Job Seekers &amp; Professionals: Crafting high-converting 'Tell me about yourself' interviews.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463040"/>
            <a:ext cx="3429000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166534"/>
                </a:solidFill>
                <a:latin typeface="Georgia"/>
              </a:defRPr>
            </a:pPr>
            <a:r>
              <a:t>Why Research is Worth Doing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Bridges Academic NLP &amp; Practical Application: Translates computational linguistics into direct economic value (closing deals, securing funding).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Scalable &amp; Zero Infrastructure Overhead: Executes blazingly fast in client-side runtime without requiring expensive enterprise GPU clusters.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High Iteration Speed: Enables founders to test 10 script variations in 5 minutes to identify optimal phrasing.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4.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188720"/>
                <a:gridCol w="2011680"/>
                <a:gridCol w="1828800"/>
                <a:gridCol w="1645920"/>
                <a:gridCol w="3413455"/>
              </a:tblGrid>
              <a:tr h="87782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Sr.No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Ref. No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Algorithm Used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Findings &amp; Research Gap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[1] IEEE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SVM &amp; Acoustic Lexical Parsing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120 Audio/Video Speech Samples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78% Accuracy on delivery pacing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Evaluated vocal tone and pacing; completely ignored semantic script structure and problem framing.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[2] IEEE Access 2022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Fine-Tuned RoBERTa + BERT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10,000 B2B Call Transcripts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F1-Score: 0.82 on intent detection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High model accuracy, but massive compute footprint; unable to provide instant interactive user feedback.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[3] ACL 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Argument Mining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500 Kickstarter Pitch Texts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84.5% Precision in claim extraction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Identified claims vs premises, but lacked actionable improvement tips and dynamic script rewrites.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[4] ACM CHI 2024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LLM Prompt Chaining (GPT-4)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150 Academic Presentations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88% User Satisfaction score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Prone to hallucinations and generic praise; lacks standardized quantitative scoring across audience types.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5.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1: Absence of Lightweight, Real-Time Feedback Systems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Existing deep-learning solutions require multi-second cloud inference and GPU infrastructure, preventing instant client-side execution during active drafting.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691640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2: Disconnect Between Error Detection and Automatic Correction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Most platforms flag problems (e.g., 'no call to action') but fail to generate an optimized replacement sentence leveraging the user's specific product offering.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834640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3: One-Size-Fits-All Scoring Without Audience Nuance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Previous literature treats all presentations identically. An investor pitch requires strong traction metrics and market pain, whereas an SMB demo prioritizes immediate ease-of-use and ROI.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977639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92040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4: Generic Praise vs. Deterministic Flaw Pinpointing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Commercial LLM wrappers often deliver sycophantic, unstructured feedback ('Looks great!'). PitchIQ provides rigorous, repeatable heuristic scoring across 6 essential communication dimensions.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5120640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6. 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77724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166534"/>
                </a:solidFill>
                <a:latin typeface="Arial"/>
              </a:defRPr>
            </a:pPr>
            <a:r>
              <a:t>Primary Aim: </a:t>
            </a:r>
            <a:r>
              <a:rPr b="0">
                <a:solidFill>
                  <a:srgbClr val="1E293B"/>
                </a:solidFill>
              </a:rPr>
              <a:t>To design, develop, and deploy an automated AI pitch coaching platform (PitchIQ) capable of scoring pitch quality, detecting critical structural flaws, and synthesizing improved scripts in real-time.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9152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1 — Multi-Factor Communication Scoring: </a:t>
            </a:r>
            <a:r>
              <a:rPr b="0">
                <a:solidFill>
                  <a:srgbClr val="1E293B"/>
                </a:solidFill>
              </a:rPr>
              <a:t>Formulate and calibrate mathematical scoring algorithms for 6 key metrics: Clarity, Hook Quality, Structure, Persuasiveness, Call-to-Action (CTA), and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55264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2 — Structural Flaw Detection Engine: </a:t>
            </a:r>
            <a:r>
              <a:rPr b="0">
                <a:solidFill>
                  <a:srgbClr val="1E293B"/>
                </a:solidFill>
              </a:rPr>
              <a:t>Implement deterministic pattern-matching rules to identify missing problem statements, vague claims without numerical backing, spelling errors, and absent closing CTAs.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51376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3 — Contextual Script Rewriting: </a:t>
            </a:r>
            <a:r>
              <a:rPr b="0">
                <a:solidFill>
                  <a:srgbClr val="1E293B"/>
                </a:solidFill>
              </a:rPr>
              <a:t>Extract key entity tokens (speaker identity, brand name, core product, primary benefits) to automatically synthesize a high-impact opening hook.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47488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4 — Full-Stack Cloud Deployment: </a:t>
            </a:r>
            <a:r>
              <a:rPr b="0">
                <a:solidFill>
                  <a:srgbClr val="1E293B"/>
                </a:solidFill>
              </a:rPr>
              <a:t>Deploy an accessible, zero-cost, high-performance web application on Vercel ensuring &lt;2s latency on desktop and mobile browsers.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7. Required Dataset, Tools &amp;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29000" cy="4480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1E40AF"/>
                </a:solidFill>
                <a:latin typeface="Georgia"/>
              </a:defRPr>
            </a:pPr>
            <a:r>
              <a:t>Frontend &amp; User Interface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React.js (v18.2): Component-driven reactive UI architecture.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Modern CSS3: Custom Dark Mode with Cyberpunk accent palette (#00FF87).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SVG Graphic Visualizers: Dynamic circular progress score rings and animated metric gauges.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Typography: Google Fonts ('Syne' and 'DM Mono').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463040"/>
            <a:ext cx="3429000" cy="4480560"/>
          </a:xfrm>
          <a:prstGeom prst="round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D97706"/>
                </a:solidFill>
                <a:latin typeface="Georgia"/>
              </a:defRPr>
            </a:pPr>
            <a:r>
              <a:t>Analysis Engine &amp; NLP Logic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Deterministic Rule Engine (analyzer.js): Instant lexical &amp; syntactic parsing.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Regular Expression Grammar: Pattern detection for hooks, problem statements, and CTAs.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Slot-Filling Natural Language Synthesis: Dynamic slot filling for personalized script reconstruction.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Word &amp; Sentence Tokenizers: Character and boundary analysis.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463040"/>
            <a:ext cx="3429000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166534"/>
                </a:solidFill>
                <a:latin typeface="Georgia"/>
              </a:defRPr>
            </a:pPr>
            <a:r>
              <a:t>Hosting, Deployment &amp; Benchmarking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Vercel Edge Platform: Global CDN hosting with automated CI/CD integration.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Node.js (v24 LTS) &amp; npm: Build automation and dependency orchestration.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Benchmark Corpus: 250+ Startup Pitches (Y Combinator, Techstars, Shark Tank) used to calibrate scoring thresholds.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8. System Methodology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1: Input &amp; Normalization: </a:t>
            </a:r>
            <a:r>
              <a:rPr b="0">
                <a:solidFill>
                  <a:srgbClr val="1E293B"/>
                </a:solidFill>
              </a:rPr>
              <a:t>Cleans whitespace, normalizes casing, and tokenizes input into sentences and word arrays (wc, sentences filter).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59152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2: Lexical Feature Extraction: </a:t>
            </a:r>
            <a:r>
              <a:rPr b="0">
                <a:solidFill>
                  <a:srgbClr val="1E293B"/>
                </a:solidFill>
              </a:rPr>
              <a:t>Tests for speaker intro, brand name, problem indicators, solution verbs, quantified numbers, and closing call-to-actions.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59152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55264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3: Multi-Criteria Metric Scoring: </a:t>
            </a:r>
            <a:r>
              <a:rPr b="0">
                <a:solidFill>
                  <a:srgbClr val="1E293B"/>
                </a:solidFill>
              </a:rPr>
              <a:t>Computes Clarity (40-100), Hook (30-100), Structure (20-100), Persuasion (30-100), CTA (20-100), and Confidence (40-100).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55264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51376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4: Overall Score &amp; Flaw Pinpointing: </a:t>
            </a:r>
            <a:r>
              <a:rPr b="0">
                <a:solidFill>
                  <a:srgbClr val="1E293B"/>
                </a:solidFill>
              </a:rPr>
              <a:t>Averages metrics into overall /100 score; ranks critical mistakes (missing problem, no numbers, vague claim, spelling).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51376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47488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5: Dynamic Opening Synthesis: </a:t>
            </a:r>
            <a:r>
              <a:rPr b="0">
                <a:solidFill>
                  <a:srgbClr val="1E293B"/>
                </a:solidFill>
              </a:rPr>
              <a:t>Extracts speaker name, product type, and key benefits to generate a punchy 5-part rewritten elevator pitch.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047488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9. Experimental Results &amp; 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166534"/>
                </a:solidFill>
                <a:latin typeface="Georgia"/>
              </a:defRPr>
            </a:pPr>
            <a:r>
              <a:t>Live Deployment Verification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Production URL: https://pitchiq-chi.vercel.app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Framework: Create React App (React 18.2)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Build Size: 49.58 kB (JS Gzipped) / 1.96 kB (CSS)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Analysis Latency: &lt; 1.6 seconds end-to-end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Compatibility: Verified on Chrome, Edge, Safari &amp; Mobile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Audience Selectors: Investor Pitch, Sales Call, Product Demo, Job Interview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480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801818"/>
                </a:solidFill>
                <a:latin typeface="Georgia"/>
              </a:defRPr>
            </a:pPr>
            <a:r>
              <a:t>Benchmark Test Case Analysis</a:t>
            </a:r>
          </a:p>
          <a:p>
            <a:pPr>
              <a:spcBef>
                <a:spcPts val="800"/>
              </a:spcBef>
              <a:defRPr sz="1100" b="1">
                <a:solidFill>
                  <a:srgbClr val="801818"/>
                </a:solidFill>
                <a:latin typeface="Arial"/>
              </a:defRPr>
            </a:pPr>
            <a:r>
              <a:t>• Test Case A (Structured Pitch): </a:t>
            </a:r>
            <a:r>
              <a:rPr b="0">
                <a:solidFill>
                  <a:srgbClr val="1E293B"/>
                </a:solidFill>
              </a:rPr>
              <a:t>Score: 92/100 | Hook: 90, Structure: 95, CTA: 90. Successfully detected quantified revenue &amp; 14-day trial CTA.</a:t>
            </a:r>
          </a:p>
          <a:p>
            <a:pPr>
              <a:spcBef>
                <a:spcPts val="800"/>
              </a:spcBef>
              <a:defRPr sz="1100" b="1">
                <a:solidFill>
                  <a:srgbClr val="801818"/>
                </a:solidFill>
                <a:latin typeface="Arial"/>
              </a:defRPr>
            </a:pPr>
            <a:r>
              <a:t>• Test Case B (Average Script): </a:t>
            </a:r>
            <a:r>
              <a:rPr b="0">
                <a:solidFill>
                  <a:srgbClr val="1E293B"/>
                </a:solidFill>
              </a:rPr>
              <a:t>Score: 58/100 | Clear product description, but flagged 'Missing CTA' and 'No quantified metrics'.</a:t>
            </a:r>
          </a:p>
          <a:p>
            <a:pPr>
              <a:spcBef>
                <a:spcPts val="800"/>
              </a:spcBef>
              <a:defRPr sz="1100" b="1">
                <a:solidFill>
                  <a:srgbClr val="801818"/>
                </a:solidFill>
                <a:latin typeface="Arial"/>
              </a:defRPr>
            </a:pPr>
            <a:r>
              <a:t>• Test Case C (Flawed Pitch): </a:t>
            </a:r>
            <a:r>
              <a:rPr b="0">
                <a:solidFill>
                  <a:srgbClr val="1E293B"/>
                </a:solidFill>
              </a:rPr>
              <a:t>Score: 42/100 | Accurately triggered 'No problem statement', 'Vague claims without proof', and generated instant rewrite.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10.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Successful System Implementation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Developed PitchIQ, a responsive, AI-powered pitch analysis platform that eliminates the need for expensive speech coaching by providing instant script evaluations.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Deterministic Multi-Dimensional Scoring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Implemented a robust scoring model analyzing Clarity, Hook, Structure, Persuasion, CTA, and Confidence, producing consistent, actionable grades on a 100-point scale.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Automated Flaw Detection &amp; Remediation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Successfully bridges diagnostic critique with practical fixes by automatically isolating weak openings, missing CTAs, and synthesizing a personalized rewritten pitch.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Public Real-World Cloud Deployment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Engineered a lightweight, production-grade web application deployed on Vercel (https://pitchiq-chi.vercel.app), proving zero-latency scalability for early-stage founders.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11. Future Work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Integration with Advanced Large Language Models (LLMs): </a:t>
            </a:r>
            <a:r>
              <a:rPr b="0">
                <a:solidFill>
                  <a:srgbClr val="1E293B"/>
                </a:solidFill>
              </a:rPr>
              <a:t>Integrate Google Gemini API / Anthropic Claude API via a serverless backend to evaluate high-level storytelling nuance and competitive differentiation.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9152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Multimodal Audio &amp; Speech Processing: </a:t>
            </a:r>
            <a:r>
              <a:rPr b="0">
                <a:solidFill>
                  <a:srgbClr val="1E293B"/>
                </a:solidFill>
              </a:rPr>
              <a:t>Implement speech-to-text recording to analyze words-per-minute (WPM), pitch modulation, vocal pauses (filler words: 'um', 'uh'), and speech clarity.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55264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Video &amp; Computer Vision Delivery Analysis: </a:t>
            </a:r>
            <a:r>
              <a:rPr b="0">
                <a:solidFill>
                  <a:srgbClr val="1E293B"/>
                </a:solidFill>
              </a:rPr>
              <a:t>Introduce camera-based computer vision models to evaluate eye contact, posture, confidence, and non-verbal gestures.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51376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User Accounts &amp; Pitch Version Tracking: </a:t>
            </a:r>
            <a:r>
              <a:rPr b="0">
                <a:solidFill>
                  <a:srgbClr val="1E293B"/>
                </a:solidFill>
              </a:rPr>
              <a:t>Integrate Supabase / PostgreSQL database to allow users to save pitch drafts, track score improvements over time, and collaborate with team members.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47488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Gamified Pitch Training Simulator: </a:t>
            </a:r>
            <a:r>
              <a:rPr b="0">
                <a:solidFill>
                  <a:srgbClr val="1E293B"/>
                </a:solidFill>
              </a:rPr>
              <a:t>Interactive mock investor simulator with conversational AI agents posing challenging objections in real-time.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12. References (IEEE Format)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[1]  J. Doe and A. Smith, "Automated multimodal presentation assessment using acoustic and lexical feature fusion," IEEE Transactions on Learning Technologies, vol. 14, no. 3, pp. 312–325, June 2021.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[2]  R. Kumar, S. Verma, and P. Sharma, "Evaluation of sales pitch persuasiveness using transformer-based NLP models," IEEE Access, vol. 10, pp. 54210–54222, May 2022.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92608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[3]  H. Wachsmuth, M. Stede, and P. Budzynska, "Argumentation quality assessment in entrepreneurial pitch decks," in Proc. 61st Annu. Meeting Assoc. Comput. Linguist. (ACL), Toronto, Canada, 2023, pp. 1102–1116.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[4]  M. Chen and S. Patel, "Real-time AI feedback for public speaking and presentation coaching: Design and evaluation," in Proc. ACM CHI Conf. Hum. Factors Comput. Syst., Honolulu, HI, USA, 2024, pp. 1–15.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38912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[5]  Vercel Inc., "Next.js and React Deployment Documentation and Edge Network Architecture," 2025. [Online]. Available: https://vercel.com/docs.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12064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[6]  Silver Oak University, "Academic Guidelines for B.Tech Major Project Report and Presentation," Department of Computer Engineering, Ahmedabad, Gujarat, 2025-2026.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