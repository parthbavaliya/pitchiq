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728655" cy="731520"/>
          </a:xfrm>
          <a:prstGeom prst="rect">
            <a:avLst/>
          </a:prstGeom>
          <a:noFill/>
        </p:spPr>
        <p:txBody>
          <a:bodyPr wrap="none">
            <a:spAutoFit/>
          </a:bodyPr>
          <a:lstStyle/>
          <a:p>
            <a:pPr algn="ctr">
              <a:defRPr sz="2600" b="1">
                <a:solidFill>
                  <a:srgbClr val="801818"/>
                </a:solidFill>
                <a:latin typeface="Georgia"/>
              </a:defRPr>
            </a:pPr>
            <a:r>
              <a:t>SILVER OAK UNIVERSITY</a:t>
            </a:r>
          </a:p>
          <a:p>
            <a:pPr algn="ctr">
              <a:defRPr sz="1100">
                <a:solidFill>
                  <a:srgbClr val="64748B"/>
                </a:solidFill>
                <a:latin typeface="Arial"/>
              </a:defRPr>
            </a:pPr>
            <a:r>
              <a:t>DEPARTMENT OF COMPUTER ENGINEERING  |  EDUCATION TO INNOVATION</a:t>
            </a:r>
          </a:p>
        </p:txBody>
      </p:sp>
      <p:sp>
        <p:nvSpPr>
          <p:cNvPr id="4" name="Rectangle 3"/>
          <p:cNvSpPr/>
          <p:nvPr/>
        </p:nvSpPr>
        <p:spPr>
          <a:xfrm>
            <a:off x="731520" y="1325880"/>
            <a:ext cx="10728655" cy="205740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62895" cy="1828800"/>
          </a:xfrm>
          <a:prstGeom prst="rect">
            <a:avLst/>
          </a:prstGeom>
          <a:noFill/>
        </p:spPr>
        <p:txBody>
          <a:bodyPr wrap="none">
            <a:spAutoFit/>
          </a:bodyPr>
          <a:lstStyle/>
          <a:p>
            <a:pPr algn="ctr">
              <a:defRPr sz="1300">
                <a:solidFill>
                  <a:srgbClr val="FED7AA"/>
                </a:solidFill>
                <a:latin typeface="Arial"/>
              </a:defRPr>
            </a:pPr>
            <a:r>
              <a:t>Course Name: Final Year Major Project (Computer Engineering)</a:t>
            </a:r>
          </a:p>
          <a:p>
            <a:pPr algn="ctr">
              <a:defRPr sz="2600" b="1">
                <a:solidFill>
                  <a:srgbClr val="FFFFFF"/>
                </a:solidFill>
                <a:latin typeface="Georgia"/>
              </a:defRPr>
            </a:pPr>
            <a:r>
              <a:t>RAG-Based Intelligent Document Chatbot Using Large Language Models</a:t>
            </a:r>
          </a:p>
          <a:p>
            <a:pPr algn="ctr">
              <a:defRPr sz="1200">
                <a:solidFill>
                  <a:srgbClr val="FEF3C7"/>
                </a:solidFill>
                <a:latin typeface="Arial"/>
              </a:defRPr>
            </a:pPr>
            <a:r>
              <a:t>Demonstrating Document Ingestion, TF-IDF Retrieval, and Contextual Response Generation (MedRAG)</a:t>
            </a:r>
          </a:p>
        </p:txBody>
      </p:sp>
      <p:graphicFrame>
        <p:nvGraphicFramePr>
          <p:cNvPr id="6" name="Table 5"/>
          <p:cNvGraphicFramePr>
            <a:graphicFrameLocks noGrp="1"/>
          </p:cNvGraphicFramePr>
          <p:nvPr/>
        </p:nvGraphicFramePr>
        <p:xfrm>
          <a:off x="1645920" y="3611880"/>
          <a:ext cx="8899855" cy="2194560"/>
        </p:xfrm>
        <a:graphic>
          <a:graphicData uri="http://schemas.openxmlformats.org/drawingml/2006/table">
            <a:tbl>
              <a:tblPr firstRow="1" bandRow="1">
                <a:tableStyleId>{5C22544A-7EE6-4342-B048-85BDC9FD1C3A}</a:tableStyleId>
              </a:tblPr>
              <a:tblGrid>
                <a:gridCol w="2926080"/>
                <a:gridCol w="5973775"/>
              </a:tblGrid>
              <a:tr h="438912">
                <a:tc>
                  <a:txBody>
                    <a:bodyPr/>
                    <a:lstStyle/>
                    <a:p>
                      <a:pPr>
                        <a:defRPr sz="1200" b="1">
                          <a:solidFill>
                            <a:srgbClr val="801818"/>
                          </a:solidFill>
                          <a:latin typeface="Arial"/>
                        </a:defRPr>
                      </a:pPr>
                      <a:r>
                        <a:t>Project ID</a:t>
                      </a:r>
                    </a:p>
                  </a:txBody>
                  <a:tcPr>
                    <a:solidFill>
                      <a:srgbClr val="F1F5F9"/>
                    </a:solidFill>
                  </a:tcPr>
                </a:tc>
                <a:tc>
                  <a:txBody>
                    <a:bodyPr/>
                    <a:lstStyle/>
                    <a:p>
                      <a:pPr>
                        <a:defRPr sz="1200">
                          <a:solidFill>
                            <a:srgbClr val="1E293B"/>
                          </a:solidFill>
                          <a:latin typeface="Arial"/>
                        </a:defRPr>
                      </a:pPr>
                      <a:r>
                        <a:t>CE-2026-RAG-03</a:t>
                      </a:r>
                    </a:p>
                  </a:txBody>
                  <a:tcPr>
                    <a:solidFill>
                      <a:srgbClr val="F1F5F9"/>
                    </a:solidFill>
                  </a:tcPr>
                </a:tc>
              </a:tr>
              <a:tr h="438912">
                <a:tc>
                  <a:txBody>
                    <a:bodyPr/>
                    <a:lstStyle/>
                    <a:p>
                      <a:pPr>
                        <a:defRPr sz="1200" b="1">
                          <a:solidFill>
                            <a:srgbClr val="801818"/>
                          </a:solidFill>
                          <a:latin typeface="Arial"/>
                        </a:defRPr>
                      </a:pPr>
                      <a:r>
                        <a:t>Enrollment No</a:t>
                      </a:r>
                    </a:p>
                  </a:txBody>
                  <a:tcPr>
                    <a:solidFill>
                      <a:srgbClr val="FFFFFF"/>
                    </a:solidFill>
                  </a:tcPr>
                </a:tc>
                <a:tc>
                  <a:txBody>
                    <a:bodyPr/>
                    <a:lstStyle/>
                    <a:p>
                      <a:pPr>
                        <a:defRPr sz="1200">
                          <a:solidFill>
                            <a:srgbClr val="1E293B"/>
                          </a:solidFill>
                          <a:latin typeface="Arial"/>
                        </a:defRPr>
                      </a:pPr>
                      <a:r>
                        <a:t>[Your Enrollment Number(s)]</a:t>
                      </a:r>
                    </a:p>
                  </a:txBody>
                  <a:tcPr>
                    <a:solidFill>
                      <a:srgbClr val="FFFFFF"/>
                    </a:solidFill>
                  </a:tcPr>
                </a:tc>
              </a:tr>
              <a:tr h="438912">
                <a:tc>
                  <a:txBody>
                    <a:bodyPr/>
                    <a:lstStyle/>
                    <a:p>
                      <a:pPr>
                        <a:defRPr sz="1200" b="1">
                          <a:solidFill>
                            <a:srgbClr val="801818"/>
                          </a:solidFill>
                          <a:latin typeface="Arial"/>
                        </a:defRPr>
                      </a:pPr>
                      <a:r>
                        <a:t>Candidate Name(s)</a:t>
                      </a:r>
                    </a:p>
                  </a:txBody>
                  <a:tcPr>
                    <a:solidFill>
                      <a:srgbClr val="F1F5F9"/>
                    </a:solidFill>
                  </a:tcPr>
                </a:tc>
                <a:tc>
                  <a:txBody>
                    <a:bodyPr/>
                    <a:lstStyle/>
                    <a:p>
                      <a:pPr>
                        <a:defRPr sz="1200">
                          <a:solidFill>
                            <a:srgbClr val="1E293B"/>
                          </a:solidFill>
                          <a:latin typeface="Arial"/>
                        </a:defRPr>
                      </a:pPr>
                      <a:r>
                        <a:t>Shivani Kuntmal / Leeza Khanjada / Parth Bavaliya</a:t>
                      </a:r>
                    </a:p>
                  </a:txBody>
                  <a:tcPr>
                    <a:solidFill>
                      <a:srgbClr val="F1F5F9"/>
                    </a:solidFill>
                  </a:tcPr>
                </a:tc>
              </a:tr>
              <a:tr h="438912">
                <a:tc>
                  <a:txBody>
                    <a:bodyPr/>
                    <a:lstStyle/>
                    <a:p>
                      <a:pPr>
                        <a:defRPr sz="1200" b="1">
                          <a:solidFill>
                            <a:srgbClr val="801818"/>
                          </a:solidFill>
                          <a:latin typeface="Arial"/>
                        </a:defRPr>
                      </a:pPr>
                      <a:r>
                        <a:t>Branch / Department</a:t>
                      </a:r>
                    </a:p>
                  </a:txBody>
                  <a:tcPr>
                    <a:solidFill>
                      <a:srgbClr val="FFFFFF"/>
                    </a:solidFill>
                  </a:tcPr>
                </a:tc>
                <a:tc>
                  <a:txBody>
                    <a:bodyPr/>
                    <a:lstStyle/>
                    <a:p>
                      <a:pPr>
                        <a:defRPr sz="1200">
                          <a:solidFill>
                            <a:srgbClr val="1E293B"/>
                          </a:solidFill>
                          <a:latin typeface="Arial"/>
                        </a:defRPr>
                      </a:pPr>
                      <a:r>
                        <a:t>B.Tech Computer Engineering</a:t>
                      </a:r>
                    </a:p>
                  </a:txBody>
                  <a:tcPr>
                    <a:solidFill>
                      <a:srgbClr val="FFFFFF"/>
                    </a:solidFill>
                  </a:tcPr>
                </a:tc>
              </a:tr>
              <a:tr h="438912">
                <a:tc>
                  <a:txBody>
                    <a:bodyPr/>
                    <a:lstStyle/>
                    <a:p>
                      <a:pPr>
                        <a:defRPr sz="1200" b="1">
                          <a:solidFill>
                            <a:srgbClr val="801818"/>
                          </a:solidFill>
                          <a:latin typeface="Arial"/>
                        </a:defRPr>
                      </a:pPr>
                      <a:r>
                        <a:t>Internal Guide Name</a:t>
                      </a:r>
                    </a:p>
                  </a:txBody>
                  <a:tcPr>
                    <a:solidFill>
                      <a:srgbClr val="F1F5F9"/>
                    </a:solidFill>
                  </a:tcPr>
                </a:tc>
                <a:tc>
                  <a:txBody>
                    <a:bodyPr/>
                    <a:lstStyle/>
                    <a:p>
                      <a:pPr>
                        <a:defRPr sz="1200">
                          <a:solidFill>
                            <a:srgbClr val="1E293B"/>
                          </a:solidFill>
                          <a:latin typeface="Arial"/>
                        </a:defRPr>
                      </a:pPr>
                      <a:r>
                        <a:t>[Prof. Guide Name] / Department Faculty</a:t>
                      </a:r>
                    </a:p>
                  </a:txBody>
                  <a:tcPr>
                    <a:solidFill>
                      <a:srgbClr val="F1F5F9"/>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Table of Contents</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2</a:t>
            </a:r>
          </a:p>
        </p:txBody>
      </p:sp>
      <p:sp>
        <p:nvSpPr>
          <p:cNvPr id="7" name="Rounded Rectangle 6"/>
          <p:cNvSpPr/>
          <p:nvPr/>
        </p:nvSpPr>
        <p:spPr>
          <a:xfrm>
            <a:off x="1097280" y="155448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01. Introduction to Research Area</a:t>
            </a:r>
          </a:p>
        </p:txBody>
      </p:sp>
      <p:sp>
        <p:nvSpPr>
          <p:cNvPr id="8" name="Rounded Rectangle 7"/>
          <p:cNvSpPr/>
          <p:nvPr/>
        </p:nvSpPr>
        <p:spPr>
          <a:xfrm>
            <a:off x="1097280" y="228600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02. Background and Motivation</a:t>
            </a:r>
          </a:p>
        </p:txBody>
      </p:sp>
      <p:sp>
        <p:nvSpPr>
          <p:cNvPr id="9" name="Rounded Rectangle 8"/>
          <p:cNvSpPr/>
          <p:nvPr/>
        </p:nvSpPr>
        <p:spPr>
          <a:xfrm>
            <a:off x="1097280" y="301752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03. Relevance and Importance</a:t>
            </a:r>
          </a:p>
        </p:txBody>
      </p:sp>
      <p:sp>
        <p:nvSpPr>
          <p:cNvPr id="10" name="Rounded Rectangle 9"/>
          <p:cNvSpPr/>
          <p:nvPr/>
        </p:nvSpPr>
        <p:spPr>
          <a:xfrm>
            <a:off x="1097280" y="374904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04. Literature Review (Key Research)</a:t>
            </a:r>
          </a:p>
        </p:txBody>
      </p:sp>
      <p:sp>
        <p:nvSpPr>
          <p:cNvPr id="11" name="Rounded Rectangle 10"/>
          <p:cNvSpPr/>
          <p:nvPr/>
        </p:nvSpPr>
        <p:spPr>
          <a:xfrm>
            <a:off x="1097280" y="448056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05. Research Gap Analysis</a:t>
            </a:r>
          </a:p>
        </p:txBody>
      </p:sp>
      <p:sp>
        <p:nvSpPr>
          <p:cNvPr id="12" name="Rounded Rectangle 11"/>
          <p:cNvSpPr/>
          <p:nvPr/>
        </p:nvSpPr>
        <p:spPr>
          <a:xfrm>
            <a:off x="1097280" y="521208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06. Project Objectives</a:t>
            </a:r>
          </a:p>
        </p:txBody>
      </p:sp>
      <p:sp>
        <p:nvSpPr>
          <p:cNvPr id="13" name="Rounded Rectangle 12"/>
          <p:cNvSpPr/>
          <p:nvPr/>
        </p:nvSpPr>
        <p:spPr>
          <a:xfrm>
            <a:off x="6400800" y="155448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07. Required Dataset, Tools &amp; Tech Stack</a:t>
            </a:r>
          </a:p>
        </p:txBody>
      </p:sp>
      <p:sp>
        <p:nvSpPr>
          <p:cNvPr id="14" name="Rounded Rectangle 13"/>
          <p:cNvSpPr/>
          <p:nvPr/>
        </p:nvSpPr>
        <p:spPr>
          <a:xfrm>
            <a:off x="6400800" y="228600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08. Proposed System Methodology &amp; Architecture</a:t>
            </a:r>
          </a:p>
        </p:txBody>
      </p:sp>
      <p:sp>
        <p:nvSpPr>
          <p:cNvPr id="15" name="Rounded Rectangle 14"/>
          <p:cNvSpPr/>
          <p:nvPr/>
        </p:nvSpPr>
        <p:spPr>
          <a:xfrm>
            <a:off x="6400800" y="301752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09. Implementation &amp; Functional Validation</a:t>
            </a:r>
          </a:p>
        </p:txBody>
      </p:sp>
      <p:sp>
        <p:nvSpPr>
          <p:cNvPr id="16" name="Rounded Rectangle 15"/>
          <p:cNvSpPr/>
          <p:nvPr/>
        </p:nvSpPr>
        <p:spPr>
          <a:xfrm>
            <a:off x="6400800" y="374904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10. Project Conclusion</a:t>
            </a:r>
          </a:p>
        </p:txBody>
      </p:sp>
      <p:sp>
        <p:nvSpPr>
          <p:cNvPr id="17" name="Rounded Rectangle 16"/>
          <p:cNvSpPr/>
          <p:nvPr/>
        </p:nvSpPr>
        <p:spPr>
          <a:xfrm>
            <a:off x="6400800" y="448056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11. Future Scope &amp; Research Roadmap</a:t>
            </a:r>
          </a:p>
        </p:txBody>
      </p:sp>
      <p:sp>
        <p:nvSpPr>
          <p:cNvPr id="18" name="Rounded Rectangle 17"/>
          <p:cNvSpPr/>
          <p:nvPr/>
        </p:nvSpPr>
        <p:spPr>
          <a:xfrm>
            <a:off x="6400800" y="5212080"/>
            <a:ext cx="4754880" cy="594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E293B"/>
                </a:solidFill>
                <a:latin typeface="Arial"/>
              </a:defRPr>
            </a:pPr>
            <a:r>
              <a:t>12. References (IEEE Format)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1. Introduction</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3</a:t>
            </a:r>
          </a:p>
        </p:txBody>
      </p:sp>
      <p:sp>
        <p:nvSpPr>
          <p:cNvPr id="7" name="Rectangle 6"/>
          <p:cNvSpPr/>
          <p:nvPr/>
        </p:nvSpPr>
        <p:spPr>
          <a:xfrm>
            <a:off x="731520" y="1463040"/>
            <a:ext cx="10728655" cy="7772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Research Domain &amp; Paradigm: </a:t>
            </a:r>
            <a:r>
              <a:rPr b="0">
                <a:solidFill>
                  <a:srgbClr val="1E293B"/>
                </a:solidFill>
              </a:rPr>
              <a:t>Natural Language Processing (NLP), Information Retrieval (IR), and Retrieval-Augmented Generation (RAG) using Large Language Models (LLMs).</a:t>
            </a:r>
          </a:p>
        </p:txBody>
      </p:sp>
      <p:sp>
        <p:nvSpPr>
          <p:cNvPr id="8" name="Rectangle 7"/>
          <p:cNvSpPr/>
          <p:nvPr/>
        </p:nvSpPr>
        <p:spPr>
          <a:xfrm>
            <a:off x="731520" y="1463040"/>
            <a:ext cx="109728" cy="77724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359152"/>
            <a:ext cx="10728655" cy="7772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The Document Hallucination Problem: </a:t>
            </a:r>
            <a:r>
              <a:rPr b="0">
                <a:solidFill>
                  <a:srgbClr val="1E293B"/>
                </a:solidFill>
              </a:rPr>
              <a:t>General-purpose LLMs generate fluent text but lack automatic access to newly uploaded proprietary documents, often producing plausible-sounding hallucinations when factual evidence is missing.</a:t>
            </a:r>
          </a:p>
        </p:txBody>
      </p:sp>
      <p:sp>
        <p:nvSpPr>
          <p:cNvPr id="10" name="Rectangle 9"/>
          <p:cNvSpPr/>
          <p:nvPr/>
        </p:nvSpPr>
        <p:spPr>
          <a:xfrm>
            <a:off x="731520" y="2359152"/>
            <a:ext cx="109728" cy="77724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255264"/>
            <a:ext cx="10728655" cy="7772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What is MedRAG? </a:t>
            </a:r>
            <a:r>
              <a:rPr b="0">
                <a:solidFill>
                  <a:srgbClr val="1E293B"/>
                </a:solidFill>
              </a:rPr>
              <a:t>A lightweight, locally-managed RAG-based intelligent document chatbot that ingests PDF reports, extracts text, indexes manageable chunks, retrieves evidence using TF-IDF, and grounds Google Gemini's responses.</a:t>
            </a:r>
          </a:p>
        </p:txBody>
      </p:sp>
      <p:sp>
        <p:nvSpPr>
          <p:cNvPr id="12" name="Rectangle 11"/>
          <p:cNvSpPr/>
          <p:nvPr/>
        </p:nvSpPr>
        <p:spPr>
          <a:xfrm>
            <a:off x="731520" y="3255264"/>
            <a:ext cx="109728" cy="77724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151376"/>
            <a:ext cx="10728655" cy="7772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Dual Role Interface Workflows: </a:t>
            </a:r>
            <a:r>
              <a:rPr b="0">
                <a:solidFill>
                  <a:srgbClr val="1E293B"/>
                </a:solidFill>
              </a:rPr>
              <a:t>Features a Patient/Student workflow for interactive natural-language document explanation and a Doctor/Admin workflow for querying and managing stored sample records.</a:t>
            </a:r>
          </a:p>
        </p:txBody>
      </p:sp>
      <p:sp>
        <p:nvSpPr>
          <p:cNvPr id="14" name="Rectangle 13"/>
          <p:cNvSpPr/>
          <p:nvPr/>
        </p:nvSpPr>
        <p:spPr>
          <a:xfrm>
            <a:off x="731520" y="4151376"/>
            <a:ext cx="109728" cy="77724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47488"/>
            <a:ext cx="10728655" cy="7772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Classroom Prototype Focus: </a:t>
            </a:r>
            <a:r>
              <a:rPr b="0">
                <a:solidFill>
                  <a:srgbClr val="1E293B"/>
                </a:solidFill>
              </a:rPr>
              <a:t>Prioritizes end-to-end traceability, modular 5-tier architecture, and local reproducibility without requiring complex vector database infrastructure.</a:t>
            </a:r>
          </a:p>
        </p:txBody>
      </p:sp>
      <p:sp>
        <p:nvSpPr>
          <p:cNvPr id="16" name="Rectangle 15"/>
          <p:cNvSpPr/>
          <p:nvPr/>
        </p:nvSpPr>
        <p:spPr>
          <a:xfrm>
            <a:off x="731520" y="5047488"/>
            <a:ext cx="109728" cy="777240"/>
          </a:xfrm>
          <a:prstGeom prst="rect">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2. Background and Motivation</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4</a:t>
            </a:r>
          </a:p>
        </p:txBody>
      </p:sp>
      <p:sp>
        <p:nvSpPr>
          <p:cNvPr id="7" name="Rounded Rectangle 6"/>
          <p:cNvSpPr/>
          <p:nvPr/>
        </p:nvSpPr>
        <p:spPr>
          <a:xfrm>
            <a:off x="731520" y="1463040"/>
            <a:ext cx="5120640" cy="4480560"/>
          </a:xfrm>
          <a:prstGeom prst="roundRect">
            <a:avLst/>
          </a:prstGeom>
          <a:solidFill>
            <a:srgbClr val="FFF7ED"/>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800" b="1">
                <a:solidFill>
                  <a:srgbClr val="801818"/>
                </a:solidFill>
                <a:latin typeface="Georgia"/>
              </a:defRPr>
            </a:pPr>
            <a:r>
              <a:t>Background of Research Work</a:t>
            </a:r>
          </a:p>
          <a:p>
            <a:pPr>
              <a:spcBef>
                <a:spcPts val="800"/>
              </a:spcBef>
              <a:defRPr sz="1100">
                <a:solidFill>
                  <a:srgbClr val="1E293B"/>
                </a:solidFill>
                <a:latin typeface="Arial"/>
              </a:defRPr>
            </a:pPr>
            <a:r>
              <a:t>•  LLM Knowledge Limits: Pre-trained LLMs have static parameter weights and cannot query newly created or private domain documents.</a:t>
            </a:r>
          </a:p>
          <a:p>
            <a:pPr>
              <a:spcBef>
                <a:spcPts val="800"/>
              </a:spcBef>
              <a:defRPr sz="1100">
                <a:solidFill>
                  <a:srgbClr val="1E293B"/>
                </a:solidFill>
                <a:latin typeface="Arial"/>
              </a:defRPr>
            </a:pPr>
            <a:r>
              <a:t>•  Manual Navigation Burden: Users face immense fatigue navigating complex, multi-page PDF medical and technical reports manually.</a:t>
            </a:r>
          </a:p>
          <a:p>
            <a:pPr>
              <a:spcBef>
                <a:spcPts val="800"/>
              </a:spcBef>
              <a:defRPr sz="1100">
                <a:solidFill>
                  <a:srgbClr val="1E293B"/>
                </a:solidFill>
                <a:latin typeface="Arial"/>
              </a:defRPr>
            </a:pPr>
            <a:r>
              <a:t>•  Hallucination Vulnerability: Without explicit ground truth context passed to the generation prompt, models confabulate non-factual details.</a:t>
            </a:r>
          </a:p>
          <a:p>
            <a:pPr>
              <a:spcBef>
                <a:spcPts val="800"/>
              </a:spcBef>
              <a:defRPr sz="1100">
                <a:solidFill>
                  <a:srgbClr val="1E293B"/>
                </a:solidFill>
                <a:latin typeface="Arial"/>
              </a:defRPr>
            </a:pPr>
            <a:r>
              <a:t>•  Infrastructure Overhead of Modern RAG: Typical enterprise RAG stacks demand heavy GPU servers, high-cost vector databases (Pinecone, Milvus), and complex microservices, making educational demonstration impractical.</a:t>
            </a:r>
          </a:p>
        </p:txBody>
      </p:sp>
      <p:sp>
        <p:nvSpPr>
          <p:cNvPr id="8" name="Rounded Rectangle 7"/>
          <p:cNvSpPr/>
          <p:nvPr/>
        </p:nvSpPr>
        <p:spPr>
          <a:xfrm>
            <a:off x="6217920" y="1463040"/>
            <a:ext cx="5242255" cy="448056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800" b="1">
                <a:solidFill>
                  <a:srgbClr val="166534"/>
                </a:solidFill>
                <a:latin typeface="Georgia"/>
              </a:defRPr>
            </a:pPr>
            <a:r>
              <a:t>Motivation Behind MedRAG Prototype</a:t>
            </a:r>
          </a:p>
          <a:p>
            <a:pPr>
              <a:spcBef>
                <a:spcPts val="800"/>
              </a:spcBef>
              <a:defRPr sz="1100">
                <a:solidFill>
                  <a:srgbClr val="1E293B"/>
                </a:solidFill>
                <a:latin typeface="Arial"/>
              </a:defRPr>
            </a:pPr>
            <a:r>
              <a:t>•  End-to-End Traceability: Create a completely observable engineering pipeline where each phase—ingestion, chunking, retrieval, and generation—can be monitored independently.</a:t>
            </a:r>
          </a:p>
          <a:p>
            <a:pPr>
              <a:spcBef>
                <a:spcPts val="800"/>
              </a:spcBef>
              <a:defRPr sz="1100">
                <a:solidFill>
                  <a:srgbClr val="1E293B"/>
                </a:solidFill>
                <a:latin typeface="Arial"/>
              </a:defRPr>
            </a:pPr>
            <a:r>
              <a:t>•  Zero-Vector Dependency: Prove that classical sparse retrieval (TF-IDF) provides an effective, lightweight baseline for single-document QA without vector DB costs.</a:t>
            </a:r>
          </a:p>
          <a:p>
            <a:pPr>
              <a:spcBef>
                <a:spcPts val="800"/>
              </a:spcBef>
              <a:defRPr sz="1100">
                <a:solidFill>
                  <a:srgbClr val="1E293B"/>
                </a:solidFill>
                <a:latin typeface="Arial"/>
              </a:defRPr>
            </a:pPr>
            <a:r>
              <a:t>•  Persistent Local Storage: Provide a robust SQLite layer to retain document chunks, metadata, and multi-turn conversational history locally.</a:t>
            </a:r>
          </a:p>
          <a:p>
            <a:pPr>
              <a:spcBef>
                <a:spcPts val="800"/>
              </a:spcBef>
              <a:defRPr sz="1100">
                <a:solidFill>
                  <a:srgbClr val="1E293B"/>
                </a:solidFill>
                <a:latin typeface="Arial"/>
              </a:defRPr>
            </a:pPr>
            <a:r>
              <a:t>•  Classroom Feasibility: Develop an educational tool running on standard commodity hardware (Python/FastAPI) that clearly demonstrates foundational RAG 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3. Relevance and Importance</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5</a:t>
            </a:r>
          </a:p>
        </p:txBody>
      </p:sp>
      <p:sp>
        <p:nvSpPr>
          <p:cNvPr id="7" name="Rounded Rectangle 6"/>
          <p:cNvSpPr/>
          <p:nvPr/>
        </p:nvSpPr>
        <p:spPr>
          <a:xfrm>
            <a:off x="731520" y="1463040"/>
            <a:ext cx="3429000" cy="44805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1E40AF"/>
                </a:solidFill>
                <a:latin typeface="Georgia"/>
              </a:defRPr>
            </a:pPr>
            <a:r>
              <a:t>New Insights Contributed</a:t>
            </a:r>
          </a:p>
          <a:p>
            <a:pPr>
              <a:spcBef>
                <a:spcPts val="800"/>
              </a:spcBef>
              <a:defRPr sz="1100">
                <a:solidFill>
                  <a:srgbClr val="1E293B"/>
                </a:solidFill>
                <a:latin typeface="Arial"/>
              </a:defRPr>
            </a:pPr>
            <a:r>
              <a:t>• Complete 5-Tier Architecture: Decouples UI, PDF Ingestion, TF-IDF Retrieval, SQLite Storage, and Gemini LLM Generation.</a:t>
            </a:r>
          </a:p>
          <a:p>
            <a:pPr>
              <a:spcBef>
                <a:spcPts val="800"/>
              </a:spcBef>
              <a:defRPr sz="1100">
                <a:solidFill>
                  <a:srgbClr val="1E293B"/>
                </a:solidFill>
                <a:latin typeface="Arial"/>
              </a:defRPr>
            </a:pPr>
            <a:r>
              <a:t>• Explainable Retrieval Layer: Term-weighted sparse scoring allows students/faculty to verify why specific chunks were chosen as evidence.</a:t>
            </a:r>
          </a:p>
          <a:p>
            <a:pPr>
              <a:spcBef>
                <a:spcPts val="800"/>
              </a:spcBef>
              <a:defRPr sz="1100">
                <a:solidFill>
                  <a:srgbClr val="1E293B"/>
                </a:solidFill>
                <a:latin typeface="Arial"/>
              </a:defRPr>
            </a:pPr>
            <a:r>
              <a:t>• Stateful Chat History: Preserves session dialogue in local SQLite without external cloud database subscriptions.</a:t>
            </a:r>
          </a:p>
        </p:txBody>
      </p:sp>
      <p:sp>
        <p:nvSpPr>
          <p:cNvPr id="8" name="Rounded Rectangle 7"/>
          <p:cNvSpPr/>
          <p:nvPr/>
        </p:nvSpPr>
        <p:spPr>
          <a:xfrm>
            <a:off x="4370832" y="1463040"/>
            <a:ext cx="3429000" cy="448056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801818"/>
                </a:solidFill>
                <a:latin typeface="Georgia"/>
              </a:defRPr>
            </a:pPr>
            <a:r>
              <a:t>Who is it Relevant To?</a:t>
            </a:r>
          </a:p>
          <a:p>
            <a:pPr>
              <a:spcBef>
                <a:spcPts val="800"/>
              </a:spcBef>
              <a:defRPr sz="1100">
                <a:solidFill>
                  <a:srgbClr val="1E293B"/>
                </a:solidFill>
                <a:latin typeface="Arial"/>
              </a:defRPr>
            </a:pPr>
            <a:r>
              <a:t>• Academic Researchers &amp; Students: Provides an accessible, code-transparent blueprint for studying RAG mechanisms.</a:t>
            </a:r>
          </a:p>
          <a:p>
            <a:pPr>
              <a:spcBef>
                <a:spcPts val="800"/>
              </a:spcBef>
              <a:defRPr sz="1100">
                <a:solidFill>
                  <a:srgbClr val="1E293B"/>
                </a:solidFill>
                <a:latin typeface="Arial"/>
              </a:defRPr>
            </a:pPr>
            <a:r>
              <a:t>• Healthcare Informatics Learners: Demonstrates safe, synthetic report interpretation without risking real patient PHI.</a:t>
            </a:r>
          </a:p>
          <a:p>
            <a:pPr>
              <a:spcBef>
                <a:spcPts val="800"/>
              </a:spcBef>
              <a:defRPr sz="1100">
                <a:solidFill>
                  <a:srgbClr val="1E293B"/>
                </a:solidFill>
                <a:latin typeface="Arial"/>
              </a:defRPr>
            </a:pPr>
            <a:r>
              <a:t>• Resource-Constrained Developers: Offers an architecture running on standard CPU laptops without GPU acceleration.</a:t>
            </a:r>
          </a:p>
        </p:txBody>
      </p:sp>
      <p:sp>
        <p:nvSpPr>
          <p:cNvPr id="9" name="Rounded Rectangle 8"/>
          <p:cNvSpPr/>
          <p:nvPr/>
        </p:nvSpPr>
        <p:spPr>
          <a:xfrm>
            <a:off x="8010144" y="1463040"/>
            <a:ext cx="3429000" cy="448056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166534"/>
                </a:solidFill>
                <a:latin typeface="Georgia"/>
              </a:defRPr>
            </a:pPr>
            <a:r>
              <a:t>Why Research is Worth Doing</a:t>
            </a:r>
          </a:p>
          <a:p>
            <a:pPr>
              <a:spcBef>
                <a:spcPts val="800"/>
              </a:spcBef>
              <a:defRPr sz="1100">
                <a:solidFill>
                  <a:srgbClr val="1E293B"/>
                </a:solidFill>
                <a:latin typeface="Arial"/>
              </a:defRPr>
            </a:pPr>
            <a:r>
              <a:t>• Demystifies Black-Box AI: Separates knowledge retrieval from generative language synthesis for total academic auditability.</a:t>
            </a:r>
          </a:p>
          <a:p>
            <a:pPr>
              <a:spcBef>
                <a:spcPts val="800"/>
              </a:spcBef>
              <a:defRPr sz="1100">
                <a:solidFill>
                  <a:srgbClr val="1E293B"/>
                </a:solidFill>
                <a:latin typeface="Arial"/>
              </a:defRPr>
            </a:pPr>
            <a:r>
              <a:t>• Foundation for Modern AI Engineering: Serves as the baseline upon which dense neural embeddings, BM25, and Self-RAG can be incrementally integrated.</a:t>
            </a:r>
          </a:p>
          <a:p>
            <a:pPr>
              <a:spcBef>
                <a:spcPts val="800"/>
              </a:spcBef>
              <a:defRPr sz="1100">
                <a:solidFill>
                  <a:srgbClr val="1E293B"/>
                </a:solidFill>
                <a:latin typeface="Arial"/>
              </a:defRPr>
            </a:pPr>
            <a:r>
              <a:t>• Educational Safety by Design: Explicitly bounds scope to synthetic data, avoiding dangerous unauthorized clinical claims.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4. Literature Review</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6</a:t>
            </a:r>
          </a:p>
        </p:txBody>
      </p:sp>
      <p:graphicFrame>
        <p:nvGraphicFramePr>
          <p:cNvPr id="7" name="Table 6"/>
          <p:cNvGraphicFramePr>
            <a:graphicFrameLocks noGrp="1"/>
          </p:cNvGraphicFramePr>
          <p:nvPr/>
        </p:nvGraphicFramePr>
        <p:xfrm>
          <a:off x="731520" y="1463040"/>
          <a:ext cx="10728655" cy="4389120"/>
        </p:xfrm>
        <a:graphic>
          <a:graphicData uri="http://schemas.openxmlformats.org/drawingml/2006/table">
            <a:tbl>
              <a:tblPr firstRow="1" bandRow="1">
                <a:tableStyleId>{5C22544A-7EE6-4342-B048-85BDC9FD1C3A}</a:tableStyleId>
              </a:tblPr>
              <a:tblGrid>
                <a:gridCol w="640080"/>
                <a:gridCol w="1280160"/>
                <a:gridCol w="2103120"/>
                <a:gridCol w="1828800"/>
                <a:gridCol w="1554480"/>
                <a:gridCol w="3322015"/>
              </a:tblGrid>
              <a:tr h="877824">
                <a:tc>
                  <a:txBody>
                    <a:bodyPr/>
                    <a:lstStyle/>
                    <a:p>
                      <a:pPr algn="ctr">
                        <a:defRPr sz="1100" b="1">
                          <a:solidFill>
                            <a:srgbClr val="FFFFFF"/>
                          </a:solidFill>
                          <a:latin typeface="Arial"/>
                        </a:defRPr>
                      </a:pPr>
                      <a:r>
                        <a:t>Sr.No</a:t>
                      </a:r>
                    </a:p>
                  </a:txBody>
                  <a:tcPr>
                    <a:solidFill>
                      <a:srgbClr val="801818"/>
                    </a:solidFill>
                  </a:tcPr>
                </a:tc>
                <a:tc>
                  <a:txBody>
                    <a:bodyPr/>
                    <a:lstStyle/>
                    <a:p>
                      <a:pPr algn="ctr">
                        <a:defRPr sz="1100" b="1">
                          <a:solidFill>
                            <a:srgbClr val="FFFFFF"/>
                          </a:solidFill>
                          <a:latin typeface="Arial"/>
                        </a:defRPr>
                      </a:pPr>
                      <a:r>
                        <a:t>Ref. No</a:t>
                      </a:r>
                    </a:p>
                  </a:txBody>
                  <a:tcPr>
                    <a:solidFill>
                      <a:srgbClr val="801818"/>
                    </a:solidFill>
                  </a:tcPr>
                </a:tc>
                <a:tc>
                  <a:txBody>
                    <a:bodyPr/>
                    <a:lstStyle/>
                    <a:p>
                      <a:pPr algn="ctr">
                        <a:defRPr sz="1100" b="1">
                          <a:solidFill>
                            <a:srgbClr val="FFFFFF"/>
                          </a:solidFill>
                          <a:latin typeface="Arial"/>
                        </a:defRPr>
                      </a:pPr>
                      <a:r>
                        <a:t>Algorithm / Approach</a:t>
                      </a:r>
                    </a:p>
                  </a:txBody>
                  <a:tcPr>
                    <a:solidFill>
                      <a:srgbClr val="801818"/>
                    </a:solidFill>
                  </a:tcPr>
                </a:tc>
                <a:tc>
                  <a:txBody>
                    <a:bodyPr/>
                    <a:lstStyle/>
                    <a:p>
                      <a:pPr algn="ctr">
                        <a:defRPr sz="1100" b="1">
                          <a:solidFill>
                            <a:srgbClr val="FFFFFF"/>
                          </a:solidFill>
                          <a:latin typeface="Arial"/>
                        </a:defRPr>
                      </a:pPr>
                      <a:r>
                        <a:t>Dataset / Scope</a:t>
                      </a:r>
                    </a:p>
                  </a:txBody>
                  <a:tcPr>
                    <a:solidFill>
                      <a:srgbClr val="801818"/>
                    </a:solidFill>
                  </a:tcPr>
                </a:tc>
                <a:tc>
                  <a:txBody>
                    <a:bodyPr/>
                    <a:lstStyle/>
                    <a:p>
                      <a:pPr algn="ctr">
                        <a:defRPr sz="1100" b="1">
                          <a:solidFill>
                            <a:srgbClr val="FFFFFF"/>
                          </a:solidFill>
                          <a:latin typeface="Arial"/>
                        </a:defRPr>
                      </a:pPr>
                      <a:r>
                        <a:t>Result / Metric</a:t>
                      </a:r>
                    </a:p>
                  </a:txBody>
                  <a:tcPr>
                    <a:solidFill>
                      <a:srgbClr val="801818"/>
                    </a:solidFill>
                  </a:tcPr>
                </a:tc>
                <a:tc>
                  <a:txBody>
                    <a:bodyPr/>
                    <a:lstStyle/>
                    <a:p>
                      <a:pPr algn="ctr">
                        <a:defRPr sz="1100" b="1">
                          <a:solidFill>
                            <a:srgbClr val="FFFFFF"/>
                          </a:solidFill>
                          <a:latin typeface="Arial"/>
                        </a:defRPr>
                      </a:pPr>
                      <a:r>
                        <a:t>Key Findings &amp; Relevance</a:t>
                      </a:r>
                    </a:p>
                  </a:txBody>
                  <a:tcPr>
                    <a:solidFill>
                      <a:srgbClr val="801818"/>
                    </a:solidFill>
                  </a:tcPr>
                </a:tc>
              </a:tr>
              <a:tr h="877824">
                <a:tc>
                  <a:txBody>
                    <a:bodyPr/>
                    <a:lstStyle/>
                    <a:p>
                      <a:pPr algn="ctr">
                        <a:defRPr sz="1000" b="1">
                          <a:solidFill>
                            <a:srgbClr val="1E293B"/>
                          </a:solidFill>
                          <a:latin typeface="Arial"/>
                        </a:defRPr>
                      </a:pPr>
                      <a:r>
                        <a:t>1</a:t>
                      </a:r>
                    </a:p>
                  </a:txBody>
                  <a:tcPr>
                    <a:solidFill>
                      <a:srgbClr val="FFFFFF"/>
                    </a:solidFill>
                  </a:tcPr>
                </a:tc>
                <a:tc>
                  <a:txBody>
                    <a:bodyPr/>
                    <a:lstStyle/>
                    <a:p>
                      <a:pPr algn="ctr">
                        <a:defRPr sz="1000" b="1">
                          <a:solidFill>
                            <a:srgbClr val="1E293B"/>
                          </a:solidFill>
                          <a:latin typeface="Arial"/>
                        </a:defRPr>
                      </a:pPr>
                      <a:r>
                        <a:t>Lewis et al. [1] (NeurIPS 2020)</a:t>
                      </a:r>
                    </a:p>
                  </a:txBody>
                  <a:tcPr>
                    <a:solidFill>
                      <a:srgbClr val="FFFFFF"/>
                    </a:solidFill>
                  </a:tcPr>
                </a:tc>
                <a:tc>
                  <a:txBody>
                    <a:bodyPr/>
                    <a:lstStyle/>
                    <a:p>
                      <a:pPr>
                        <a:defRPr sz="1000">
                          <a:solidFill>
                            <a:srgbClr val="1E293B"/>
                          </a:solidFill>
                          <a:latin typeface="Arial"/>
                        </a:defRPr>
                      </a:pPr>
                      <a:r>
                        <a:t>Retrieval-Augmented Generation (RAG)</a:t>
                      </a:r>
                    </a:p>
                  </a:txBody>
                  <a:tcPr>
                    <a:solidFill>
                      <a:srgbClr val="FFFFFF"/>
                    </a:solidFill>
                  </a:tcPr>
                </a:tc>
                <a:tc>
                  <a:txBody>
                    <a:bodyPr/>
                    <a:lstStyle/>
                    <a:p>
                      <a:pPr>
                        <a:defRPr sz="1000">
                          <a:solidFill>
                            <a:srgbClr val="1E293B"/>
                          </a:solidFill>
                          <a:latin typeface="Arial"/>
                        </a:defRPr>
                      </a:pPr>
                      <a:r>
                        <a:t>Natural Questions, TriviaQA</a:t>
                      </a:r>
                    </a:p>
                  </a:txBody>
                  <a:tcPr>
                    <a:solidFill>
                      <a:srgbClr val="FFFFFF"/>
                    </a:solidFill>
                  </a:tcPr>
                </a:tc>
                <a:tc>
                  <a:txBody>
                    <a:bodyPr/>
                    <a:lstStyle/>
                    <a:p>
                      <a:pPr>
                        <a:defRPr sz="1000">
                          <a:solidFill>
                            <a:srgbClr val="1E293B"/>
                          </a:solidFill>
                          <a:latin typeface="Arial"/>
                        </a:defRPr>
                      </a:pPr>
                      <a:r>
                        <a:t>Outperformed non-retrieval models on open-domain QA</a:t>
                      </a:r>
                    </a:p>
                  </a:txBody>
                  <a:tcPr>
                    <a:solidFill>
                      <a:srgbClr val="FFFFFF"/>
                    </a:solidFill>
                  </a:tcPr>
                </a:tc>
                <a:tc>
                  <a:txBody>
                    <a:bodyPr/>
                    <a:lstStyle/>
                    <a:p>
                      <a:pPr>
                        <a:defRPr sz="1000">
                          <a:solidFill>
                            <a:srgbClr val="1E293B"/>
                          </a:solidFill>
                          <a:latin typeface="Arial"/>
                        </a:defRPr>
                      </a:pPr>
                      <a:r>
                        <a:t>Proved parametric generator + non-parametric retrieval memory reduces hallucination. Foundational basis for our project.</a:t>
                      </a:r>
                    </a:p>
                  </a:txBody>
                  <a:tcPr>
                    <a:solidFill>
                      <a:srgbClr val="FFFFFF"/>
                    </a:solidFill>
                  </a:tcPr>
                </a:tc>
              </a:tr>
              <a:tr h="877824">
                <a:tc>
                  <a:txBody>
                    <a:bodyPr/>
                    <a:lstStyle/>
                    <a:p>
                      <a:pPr algn="ctr">
                        <a:defRPr sz="1000" b="1">
                          <a:solidFill>
                            <a:srgbClr val="1E293B"/>
                          </a:solidFill>
                          <a:latin typeface="Arial"/>
                        </a:defRPr>
                      </a:pPr>
                      <a:r>
                        <a:t>2</a:t>
                      </a:r>
                    </a:p>
                  </a:txBody>
                  <a:tcPr>
                    <a:solidFill>
                      <a:srgbClr val="F8FAFC"/>
                    </a:solidFill>
                  </a:tcPr>
                </a:tc>
                <a:tc>
                  <a:txBody>
                    <a:bodyPr/>
                    <a:lstStyle/>
                    <a:p>
                      <a:pPr algn="ctr">
                        <a:defRPr sz="1000" b="1">
                          <a:solidFill>
                            <a:srgbClr val="1E293B"/>
                          </a:solidFill>
                          <a:latin typeface="Arial"/>
                        </a:defRPr>
                      </a:pPr>
                      <a:r>
                        <a:t>Guu et al. [2] (ICML 2020)</a:t>
                      </a:r>
                    </a:p>
                  </a:txBody>
                  <a:tcPr>
                    <a:solidFill>
                      <a:srgbClr val="F8FAFC"/>
                    </a:solidFill>
                  </a:tcPr>
                </a:tc>
                <a:tc>
                  <a:txBody>
                    <a:bodyPr/>
                    <a:lstStyle/>
                    <a:p>
                      <a:pPr>
                        <a:defRPr sz="1000">
                          <a:solidFill>
                            <a:srgbClr val="1E293B"/>
                          </a:solidFill>
                          <a:latin typeface="Arial"/>
                        </a:defRPr>
                      </a:pPr>
                      <a:r>
                        <a:t>REALM: Latent Knowledge Retrieval</a:t>
                      </a:r>
                    </a:p>
                  </a:txBody>
                  <a:tcPr>
                    <a:solidFill>
                      <a:srgbClr val="F8FAFC"/>
                    </a:solidFill>
                  </a:tcPr>
                </a:tc>
                <a:tc>
                  <a:txBody>
                    <a:bodyPr/>
                    <a:lstStyle/>
                    <a:p>
                      <a:pPr>
                        <a:defRPr sz="1000">
                          <a:solidFill>
                            <a:srgbClr val="1E293B"/>
                          </a:solidFill>
                          <a:latin typeface="Arial"/>
                        </a:defRPr>
                      </a:pPr>
                      <a:r>
                        <a:t>Open-domain QA Corpora</a:t>
                      </a:r>
                    </a:p>
                  </a:txBody>
                  <a:tcPr>
                    <a:solidFill>
                      <a:srgbClr val="F8FAFC"/>
                    </a:solidFill>
                  </a:tcPr>
                </a:tc>
                <a:tc>
                  <a:txBody>
                    <a:bodyPr/>
                    <a:lstStyle/>
                    <a:p>
                      <a:pPr>
                        <a:defRPr sz="1000">
                          <a:solidFill>
                            <a:srgbClr val="1E293B"/>
                          </a:solidFill>
                          <a:latin typeface="Arial"/>
                        </a:defRPr>
                      </a:pPr>
                      <a:r>
                        <a:t>State-of-the-art zero-shot retrieval accuracy</a:t>
                      </a:r>
                    </a:p>
                  </a:txBody>
                  <a:tcPr>
                    <a:solidFill>
                      <a:srgbClr val="F8FAFC"/>
                    </a:solidFill>
                  </a:tcPr>
                </a:tc>
                <a:tc>
                  <a:txBody>
                    <a:bodyPr/>
                    <a:lstStyle/>
                    <a:p>
                      <a:pPr>
                        <a:defRPr sz="1000">
                          <a:solidFill>
                            <a:srgbClr val="1E293B"/>
                          </a:solidFill>
                          <a:latin typeface="Arial"/>
                        </a:defRPr>
                      </a:pPr>
                      <a:r>
                        <a:t>Showed modular separation of knowledge retrieval from language generation. Informs MedRAG's decoupled architecture.</a:t>
                      </a:r>
                    </a:p>
                  </a:txBody>
                  <a:tcPr>
                    <a:solidFill>
                      <a:srgbClr val="F8FAFC"/>
                    </a:solidFill>
                  </a:tcPr>
                </a:tc>
              </a:tr>
              <a:tr h="877824">
                <a:tc>
                  <a:txBody>
                    <a:bodyPr/>
                    <a:lstStyle/>
                    <a:p>
                      <a:pPr algn="ctr">
                        <a:defRPr sz="1000" b="1">
                          <a:solidFill>
                            <a:srgbClr val="1E293B"/>
                          </a:solidFill>
                          <a:latin typeface="Arial"/>
                        </a:defRPr>
                      </a:pPr>
                      <a:r>
                        <a:t>3</a:t>
                      </a:r>
                    </a:p>
                  </a:txBody>
                  <a:tcPr>
                    <a:solidFill>
                      <a:srgbClr val="FFFFFF"/>
                    </a:solidFill>
                  </a:tcPr>
                </a:tc>
                <a:tc>
                  <a:txBody>
                    <a:bodyPr/>
                    <a:lstStyle/>
                    <a:p>
                      <a:pPr algn="ctr">
                        <a:defRPr sz="1000" b="1">
                          <a:solidFill>
                            <a:srgbClr val="1E293B"/>
                          </a:solidFill>
                          <a:latin typeface="Arial"/>
                        </a:defRPr>
                      </a:pPr>
                      <a:r>
                        <a:t>Karpukhin [3] (EMNLP 2020)</a:t>
                      </a:r>
                    </a:p>
                  </a:txBody>
                  <a:tcPr>
                    <a:solidFill>
                      <a:srgbClr val="FFFFFF"/>
                    </a:solidFill>
                  </a:tcPr>
                </a:tc>
                <a:tc>
                  <a:txBody>
                    <a:bodyPr/>
                    <a:lstStyle/>
                    <a:p>
                      <a:pPr>
                        <a:defRPr sz="1000">
                          <a:solidFill>
                            <a:srgbClr val="1E293B"/>
                          </a:solidFill>
                          <a:latin typeface="Arial"/>
                        </a:defRPr>
                      </a:pPr>
                      <a:r>
                        <a:t>Dense Passage Retrieval (DPR)</a:t>
                      </a:r>
                    </a:p>
                  </a:txBody>
                  <a:tcPr>
                    <a:solidFill>
                      <a:srgbClr val="FFFFFF"/>
                    </a:solidFill>
                  </a:tcPr>
                </a:tc>
                <a:tc>
                  <a:txBody>
                    <a:bodyPr/>
                    <a:lstStyle/>
                    <a:p>
                      <a:pPr>
                        <a:defRPr sz="1000">
                          <a:solidFill>
                            <a:srgbClr val="1E293B"/>
                          </a:solidFill>
                          <a:latin typeface="Arial"/>
                        </a:defRPr>
                      </a:pPr>
                      <a:r>
                        <a:t>Wikipedia 21M passage benchmark</a:t>
                      </a:r>
                    </a:p>
                  </a:txBody>
                  <a:tcPr>
                    <a:solidFill>
                      <a:srgbClr val="FFFFFF"/>
                    </a:solidFill>
                  </a:tcPr>
                </a:tc>
                <a:tc>
                  <a:txBody>
                    <a:bodyPr/>
                    <a:lstStyle/>
                    <a:p>
                      <a:pPr>
                        <a:defRPr sz="1000">
                          <a:solidFill>
                            <a:srgbClr val="1E293B"/>
                          </a:solidFill>
                          <a:latin typeface="Arial"/>
                        </a:defRPr>
                      </a:pPr>
                      <a:r>
                        <a:t>Top-20 retrieval accuracy 78.8% vs BM25 59.1%</a:t>
                      </a:r>
                    </a:p>
                  </a:txBody>
                  <a:tcPr>
                    <a:solidFill>
                      <a:srgbClr val="FFFFFF"/>
                    </a:solidFill>
                  </a:tcPr>
                </a:tc>
                <a:tc>
                  <a:txBody>
                    <a:bodyPr/>
                    <a:lstStyle/>
                    <a:p>
                      <a:pPr>
                        <a:defRPr sz="1000">
                          <a:solidFill>
                            <a:srgbClr val="1E293B"/>
                          </a:solidFill>
                          <a:latin typeface="Arial"/>
                        </a:defRPr>
                      </a:pPr>
                      <a:r>
                        <a:t>Contrasted dense vs sparse retrieval. Motivates MedRAG's future migration from TF-IDF to dense vector embeddings.</a:t>
                      </a:r>
                    </a:p>
                  </a:txBody>
                  <a:tcPr>
                    <a:solidFill>
                      <a:srgbClr val="FFFFFF"/>
                    </a:solidFill>
                  </a:tcPr>
                </a:tc>
              </a:tr>
              <a:tr h="877824">
                <a:tc>
                  <a:txBody>
                    <a:bodyPr/>
                    <a:lstStyle/>
                    <a:p>
                      <a:pPr algn="ctr">
                        <a:defRPr sz="1000" b="1">
                          <a:solidFill>
                            <a:srgbClr val="1E293B"/>
                          </a:solidFill>
                          <a:latin typeface="Arial"/>
                        </a:defRPr>
                      </a:pPr>
                      <a:r>
                        <a:t>4</a:t>
                      </a:r>
                    </a:p>
                  </a:txBody>
                  <a:tcPr>
                    <a:solidFill>
                      <a:srgbClr val="F8FAFC"/>
                    </a:solidFill>
                  </a:tcPr>
                </a:tc>
                <a:tc>
                  <a:txBody>
                    <a:bodyPr/>
                    <a:lstStyle/>
                    <a:p>
                      <a:pPr algn="ctr">
                        <a:defRPr sz="1000" b="1">
                          <a:solidFill>
                            <a:srgbClr val="1E293B"/>
                          </a:solidFill>
                          <a:latin typeface="Arial"/>
                        </a:defRPr>
                      </a:pPr>
                      <a:r>
                        <a:t>Yan et al. [8] (CRAG 2024)</a:t>
                      </a:r>
                    </a:p>
                  </a:txBody>
                  <a:tcPr>
                    <a:solidFill>
                      <a:srgbClr val="F8FAFC"/>
                    </a:solidFill>
                  </a:tcPr>
                </a:tc>
                <a:tc>
                  <a:txBody>
                    <a:bodyPr/>
                    <a:lstStyle/>
                    <a:p>
                      <a:pPr>
                        <a:defRPr sz="1000">
                          <a:solidFill>
                            <a:srgbClr val="1E293B"/>
                          </a:solidFill>
                          <a:latin typeface="Arial"/>
                        </a:defRPr>
                      </a:pPr>
                      <a:r>
                        <a:t>Corrective RAG (CRAG) &amp; Self-Reflection</a:t>
                      </a:r>
                    </a:p>
                  </a:txBody>
                  <a:tcPr>
                    <a:solidFill>
                      <a:srgbClr val="F8FAFC"/>
                    </a:solidFill>
                  </a:tcPr>
                </a:tc>
                <a:tc>
                  <a:txBody>
                    <a:bodyPr/>
                    <a:lstStyle/>
                    <a:p>
                      <a:pPr>
                        <a:defRPr sz="1000">
                          <a:solidFill>
                            <a:srgbClr val="1E293B"/>
                          </a:solidFill>
                          <a:latin typeface="Arial"/>
                        </a:defRPr>
                      </a:pPr>
                      <a:r>
                        <a:t>Multi-hop QA benchmarks</a:t>
                      </a:r>
                    </a:p>
                  </a:txBody>
                  <a:tcPr>
                    <a:solidFill>
                      <a:srgbClr val="F8FAFC"/>
                    </a:solidFill>
                  </a:tcPr>
                </a:tc>
                <a:tc>
                  <a:txBody>
                    <a:bodyPr/>
                    <a:lstStyle/>
                    <a:p>
                      <a:pPr>
                        <a:defRPr sz="1000">
                          <a:solidFill>
                            <a:srgbClr val="1E293B"/>
                          </a:solidFill>
                          <a:latin typeface="Arial"/>
                        </a:defRPr>
                      </a:pPr>
                      <a:r>
                        <a:t>Substantial factual precision gains</a:t>
                      </a:r>
                    </a:p>
                  </a:txBody>
                  <a:tcPr>
                    <a:solidFill>
                      <a:srgbClr val="F8FAFC"/>
                    </a:solidFill>
                  </a:tcPr>
                </a:tc>
                <a:tc>
                  <a:txBody>
                    <a:bodyPr/>
                    <a:lstStyle/>
                    <a:p>
                      <a:pPr>
                        <a:defRPr sz="1000">
                          <a:solidFill>
                            <a:srgbClr val="1E293B"/>
                          </a:solidFill>
                          <a:latin typeface="Arial"/>
                        </a:defRPr>
                      </a:pPr>
                      <a:r>
                        <a:t>Addresses poor retrieval triggers. Guides future extension to correct low-confidence TF-IDF query matches.</a:t>
                      </a:r>
                    </a:p>
                  </a:txBody>
                  <a:tcP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5. Research Gap Analysis</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7</a:t>
            </a:r>
          </a:p>
        </p:txBody>
      </p:sp>
      <p:sp>
        <p:nvSpPr>
          <p:cNvPr id="7" name="Rounded Rectangle 6"/>
          <p:cNvSpPr/>
          <p:nvPr/>
        </p:nvSpPr>
        <p:spPr>
          <a:xfrm>
            <a:off x="731520" y="1463040"/>
            <a:ext cx="10728655" cy="96012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822960" tIns="109728"/>
          <a:lstStyle/>
          <a:p>
            <a:pPr algn="ctr">
              <a:defRPr sz="1300" b="1">
                <a:solidFill>
                  <a:srgbClr val="801818"/>
                </a:solidFill>
                <a:latin typeface="Arial"/>
              </a:defRPr>
            </a:pPr>
            <a:r>
              <a:t>Gap 1: Prohibitive Computational &amp; Infrastructure Overhead</a:t>
            </a:r>
          </a:p>
          <a:p>
            <a:pPr>
              <a:defRPr sz="1100">
                <a:solidFill>
                  <a:srgbClr val="1E293B"/>
                </a:solidFill>
                <a:latin typeface="Arial"/>
              </a:defRPr>
            </a:pPr>
            <a:r>
              <a:t>Commercial and academic RAG pipelines predominantly rely on dense vector databases (Pinecone, Chroma, Milvus) and embedding microservices that require significant GPU memory, network dependencies, and ongoing hosting expenses.</a:t>
            </a:r>
          </a:p>
        </p:txBody>
      </p:sp>
      <p:sp>
        <p:nvSpPr>
          <p:cNvPr id="8" name="Oval 7"/>
          <p:cNvSpPr/>
          <p:nvPr/>
        </p:nvSpPr>
        <p:spPr>
          <a:xfrm>
            <a:off x="914400" y="1691640"/>
            <a:ext cx="502920" cy="502920"/>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G1</a:t>
            </a:r>
          </a:p>
        </p:txBody>
      </p:sp>
      <p:sp>
        <p:nvSpPr>
          <p:cNvPr id="9" name="Rounded Rectangle 8"/>
          <p:cNvSpPr/>
          <p:nvPr/>
        </p:nvSpPr>
        <p:spPr>
          <a:xfrm>
            <a:off x="731520" y="2606040"/>
            <a:ext cx="10728655" cy="96012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822960" tIns="109728"/>
          <a:lstStyle/>
          <a:p>
            <a:pPr algn="ctr">
              <a:defRPr sz="1300" b="1">
                <a:solidFill>
                  <a:srgbClr val="801818"/>
                </a:solidFill>
                <a:latin typeface="Arial"/>
              </a:defRPr>
            </a:pPr>
            <a:r>
              <a:t>Gap 2: Lack of Observable, Self-Contained Educational Implementations</a:t>
            </a:r>
          </a:p>
          <a:p>
            <a:pPr>
              <a:defRPr sz="1100">
                <a:solidFill>
                  <a:srgbClr val="1E293B"/>
                </a:solidFill>
                <a:latin typeface="Arial"/>
              </a:defRPr>
            </a:pPr>
            <a:r>
              <a:t>Existing research benchmarks isolated mathematical sub-components on standard test suites without providing a traceable end-to-end engineering system (PDF ingestion -&gt; parsing -&gt; chunking -&gt; local storage -&gt; LLM generation).</a:t>
            </a:r>
          </a:p>
        </p:txBody>
      </p:sp>
      <p:sp>
        <p:nvSpPr>
          <p:cNvPr id="10" name="Oval 9"/>
          <p:cNvSpPr/>
          <p:nvPr/>
        </p:nvSpPr>
        <p:spPr>
          <a:xfrm>
            <a:off x="914400" y="2834640"/>
            <a:ext cx="502920" cy="502920"/>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G2</a:t>
            </a:r>
          </a:p>
        </p:txBody>
      </p:sp>
      <p:sp>
        <p:nvSpPr>
          <p:cNvPr id="11" name="Rounded Rectangle 10"/>
          <p:cNvSpPr/>
          <p:nvPr/>
        </p:nvSpPr>
        <p:spPr>
          <a:xfrm>
            <a:off x="731520" y="3749039"/>
            <a:ext cx="10728655" cy="96012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822960" tIns="109728"/>
          <a:lstStyle/>
          <a:p>
            <a:pPr algn="ctr">
              <a:defRPr sz="1300" b="1">
                <a:solidFill>
                  <a:srgbClr val="801818"/>
                </a:solidFill>
                <a:latin typeface="Arial"/>
              </a:defRPr>
            </a:pPr>
            <a:r>
              <a:t>Gap 3: Fragility to Lexical vs. Semantic Mismatch in Classical IR</a:t>
            </a:r>
          </a:p>
          <a:p>
            <a:pPr>
              <a:defRPr sz="1100">
                <a:solidFill>
                  <a:srgbClr val="1E293B"/>
                </a:solidFill>
                <a:latin typeface="Arial"/>
              </a:defRPr>
            </a:pPr>
            <a:r>
              <a:t>Traditional sparse retrievers (TF-IDF/BM25) suffer when queries use synonyms not present in source documents. However, dense models are difficult for students to inspect. A transparent baseline is urgently needed.</a:t>
            </a:r>
          </a:p>
        </p:txBody>
      </p:sp>
      <p:sp>
        <p:nvSpPr>
          <p:cNvPr id="12" name="Oval 11"/>
          <p:cNvSpPr/>
          <p:nvPr/>
        </p:nvSpPr>
        <p:spPr>
          <a:xfrm>
            <a:off x="914400" y="3977639"/>
            <a:ext cx="502920" cy="502920"/>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G3</a:t>
            </a:r>
          </a:p>
        </p:txBody>
      </p:sp>
      <p:sp>
        <p:nvSpPr>
          <p:cNvPr id="13" name="Rounded Rectangle 12"/>
          <p:cNvSpPr/>
          <p:nvPr/>
        </p:nvSpPr>
        <p:spPr>
          <a:xfrm>
            <a:off x="731520" y="4892040"/>
            <a:ext cx="10728655" cy="96012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822960" tIns="109728"/>
          <a:lstStyle/>
          <a:p>
            <a:pPr algn="ctr">
              <a:defRPr sz="1300" b="1">
                <a:solidFill>
                  <a:srgbClr val="801818"/>
                </a:solidFill>
                <a:latin typeface="Arial"/>
              </a:defRPr>
            </a:pPr>
            <a:r>
              <a:t>Gap 4: Unregulated Application to High-Risk Domains (Medical QA)</a:t>
            </a:r>
          </a:p>
          <a:p>
            <a:pPr>
              <a:defRPr sz="1100">
                <a:solidFill>
                  <a:srgbClr val="1E293B"/>
                </a:solidFill>
                <a:latin typeface="Arial"/>
              </a:defRPr>
            </a:pPr>
            <a:r>
              <a:t>Many implementations claim clinical decision support without formal boundaries. There is an academic need for an educational demonstrator that explicitly uses synthetic data, disclaims medical advice, and focuses on RAG engineering.</a:t>
            </a:r>
          </a:p>
        </p:txBody>
      </p:sp>
      <p:sp>
        <p:nvSpPr>
          <p:cNvPr id="14" name="Oval 13"/>
          <p:cNvSpPr/>
          <p:nvPr/>
        </p:nvSpPr>
        <p:spPr>
          <a:xfrm>
            <a:off x="914400" y="5120640"/>
            <a:ext cx="502920" cy="502920"/>
          </a:xfrm>
          <a:prstGeom prst="ellipse">
            <a:avLst/>
          </a:prstGeom>
          <a:solidFill>
            <a:srgbClr val="8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G4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6. Project Objectives</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8</a:t>
            </a:r>
          </a:p>
        </p:txBody>
      </p:sp>
      <p:sp>
        <p:nvSpPr>
          <p:cNvPr id="7" name="Rounded Rectangle 6"/>
          <p:cNvSpPr/>
          <p:nvPr/>
        </p:nvSpPr>
        <p:spPr>
          <a:xfrm>
            <a:off x="731520" y="1463040"/>
            <a:ext cx="10728655" cy="77724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166534"/>
                </a:solidFill>
                <a:latin typeface="Arial"/>
              </a:defRPr>
            </a:pPr>
            <a:r>
              <a:t>Primary Goal: </a:t>
            </a:r>
            <a:r>
              <a:rPr b="0">
                <a:solidFill>
                  <a:srgbClr val="1E293B"/>
                </a:solidFill>
              </a:rPr>
              <a:t>To construct and validate a lightweight, locally-executable RAG-based document chatbot prototype (MedRAG) demonstrating end-to-end PDF processing, text retrieval, and LLM-grounded explanation generation.</a:t>
            </a:r>
          </a:p>
        </p:txBody>
      </p:sp>
      <p:sp>
        <p:nvSpPr>
          <p:cNvPr id="8" name="Rounded Rectangle 7"/>
          <p:cNvSpPr/>
          <p:nvPr/>
        </p:nvSpPr>
        <p:spPr>
          <a:xfrm>
            <a:off x="731520" y="2359152"/>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Objective 1 — Ingestion &amp; Chunking Pipeline: </a:t>
            </a:r>
            <a:r>
              <a:rPr b="0">
                <a:solidFill>
                  <a:srgbClr val="1E293B"/>
                </a:solidFill>
              </a:rPr>
              <a:t>Implement embedded text extraction from uploaded PDF reports and partition content into semantically focused chunks while retaining source document identifiers.</a:t>
            </a:r>
          </a:p>
        </p:txBody>
      </p:sp>
      <p:sp>
        <p:nvSpPr>
          <p:cNvPr id="9" name="Rounded Rectangle 8"/>
          <p:cNvSpPr/>
          <p:nvPr/>
        </p:nvSpPr>
        <p:spPr>
          <a:xfrm>
            <a:off x="731520" y="3255264"/>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Objective 2 — Local Sparse Retrieval Module: </a:t>
            </a:r>
            <a:r>
              <a:rPr b="0">
                <a:solidFill>
                  <a:srgbClr val="1E293B"/>
                </a:solidFill>
              </a:rPr>
              <a:t>Develop an explainable TF-IDF retrieval system that transforms natural-language queries into term-frequency vectors and ranks document chunks based on lexical relevance.</a:t>
            </a:r>
          </a:p>
        </p:txBody>
      </p:sp>
      <p:sp>
        <p:nvSpPr>
          <p:cNvPr id="10" name="Rounded Rectangle 9"/>
          <p:cNvSpPr/>
          <p:nvPr/>
        </p:nvSpPr>
        <p:spPr>
          <a:xfrm>
            <a:off x="731520" y="4151376"/>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Objective 3 — Persistent Local Storage Layer: </a:t>
            </a:r>
            <a:r>
              <a:rPr b="0">
                <a:solidFill>
                  <a:srgbClr val="1E293B"/>
                </a:solidFill>
              </a:rPr>
              <a:t>Design an SQLite database schema (medrag.db) to persistently store uploaded document records, chunk indices, and multi-turn conversational dialogue.</a:t>
            </a:r>
          </a:p>
        </p:txBody>
      </p:sp>
      <p:sp>
        <p:nvSpPr>
          <p:cNvPr id="11" name="Rounded Rectangle 10"/>
          <p:cNvSpPr/>
          <p:nvPr/>
        </p:nvSpPr>
        <p:spPr>
          <a:xfrm>
            <a:off x="731520" y="5047488"/>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Objective 4 — Contextual LLM Prompt Augmentation: </a:t>
            </a:r>
            <a:r>
              <a:rPr b="0">
                <a:solidFill>
                  <a:srgbClr val="1E293B"/>
                </a:solidFill>
              </a:rPr>
              <a:t>Integrate Google Gemini LLM via server-side API handlers to formulate grounded answers strictly based on retrieved document excerpts, minimizing hallucinations.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7. Required Dataset, Tools &amp; Technology</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9</a:t>
            </a:r>
          </a:p>
        </p:txBody>
      </p:sp>
      <p:graphicFrame>
        <p:nvGraphicFramePr>
          <p:cNvPr id="7" name="Table 6"/>
          <p:cNvGraphicFramePr>
            <a:graphicFrameLocks noGrp="1"/>
          </p:cNvGraphicFramePr>
          <p:nvPr/>
        </p:nvGraphicFramePr>
        <p:xfrm>
          <a:off x="731520" y="1463040"/>
          <a:ext cx="6217920" cy="4389120"/>
        </p:xfrm>
        <a:graphic>
          <a:graphicData uri="http://schemas.openxmlformats.org/drawingml/2006/table">
            <a:tbl>
              <a:tblPr firstRow="1" bandRow="1">
                <a:tableStyleId>{5C22544A-7EE6-4342-B048-85BDC9FD1C3A}</a:tableStyleId>
              </a:tblPr>
              <a:tblGrid>
                <a:gridCol w="2011680"/>
                <a:gridCol w="4206240"/>
              </a:tblGrid>
              <a:tr h="548640">
                <a:tc>
                  <a:txBody>
                    <a:bodyPr/>
                    <a:lstStyle/>
                    <a:p>
                      <a:pPr>
                        <a:defRPr sz="1100" b="1">
                          <a:solidFill>
                            <a:srgbClr val="FFFFFF"/>
                          </a:solidFill>
                          <a:latin typeface="Arial"/>
                        </a:defRPr>
                      </a:pPr>
                      <a:r>
                        <a:t>Technology</a:t>
                      </a:r>
                    </a:p>
                  </a:txBody>
                  <a:tcPr>
                    <a:solidFill>
                      <a:srgbClr val="801818"/>
                    </a:solidFill>
                  </a:tcPr>
                </a:tc>
                <a:tc>
                  <a:txBody>
                    <a:bodyPr/>
                    <a:lstStyle/>
                    <a:p>
                      <a:pPr>
                        <a:defRPr sz="1100" b="1">
                          <a:solidFill>
                            <a:srgbClr val="FFFFFF"/>
                          </a:solidFill>
                          <a:latin typeface="Arial"/>
                        </a:defRPr>
                      </a:pPr>
                      <a:r>
                        <a:t>Role in Prototype</a:t>
                      </a:r>
                    </a:p>
                  </a:txBody>
                  <a:tcPr>
                    <a:solidFill>
                      <a:srgbClr val="801818"/>
                    </a:solidFill>
                  </a:tcPr>
                </a:tc>
              </a:tr>
              <a:tr h="548640">
                <a:tc>
                  <a:txBody>
                    <a:bodyPr/>
                    <a:lstStyle/>
                    <a:p>
                      <a:pPr>
                        <a:defRPr sz="1000" b="1">
                          <a:solidFill>
                            <a:srgbClr val="1E293B"/>
                          </a:solidFill>
                          <a:latin typeface="Arial"/>
                        </a:defRPr>
                      </a:pPr>
                      <a:r>
                        <a:t>Python 3.10–3.12</a:t>
                      </a:r>
                    </a:p>
                  </a:txBody>
                  <a:tcPr>
                    <a:solidFill>
                      <a:srgbClr val="FFFFFF"/>
                    </a:solidFill>
                  </a:tcPr>
                </a:tc>
                <a:tc>
                  <a:txBody>
                    <a:bodyPr/>
                    <a:lstStyle/>
                    <a:p>
                      <a:pPr>
                        <a:defRPr sz="1000">
                          <a:solidFill>
                            <a:srgbClr val="1E293B"/>
                          </a:solidFill>
                          <a:latin typeface="Arial"/>
                        </a:defRPr>
                      </a:pPr>
                      <a:r>
                        <a:t>Core application programming language</a:t>
                      </a:r>
                    </a:p>
                  </a:txBody>
                  <a:tcPr>
                    <a:solidFill>
                      <a:srgbClr val="FFFFFF"/>
                    </a:solidFill>
                  </a:tcPr>
                </a:tc>
              </a:tr>
              <a:tr h="548640">
                <a:tc>
                  <a:txBody>
                    <a:bodyPr/>
                    <a:lstStyle/>
                    <a:p>
                      <a:pPr>
                        <a:defRPr sz="1000" b="1">
                          <a:solidFill>
                            <a:srgbClr val="1E293B"/>
                          </a:solidFill>
                          <a:latin typeface="Arial"/>
                        </a:defRPr>
                      </a:pPr>
                      <a:r>
                        <a:t>FastAPI</a:t>
                      </a:r>
                    </a:p>
                  </a:txBody>
                  <a:tcPr>
                    <a:solidFill>
                      <a:srgbClr val="F8FAFC"/>
                    </a:solidFill>
                  </a:tcPr>
                </a:tc>
                <a:tc>
                  <a:txBody>
                    <a:bodyPr/>
                    <a:lstStyle/>
                    <a:p>
                      <a:pPr>
                        <a:defRPr sz="1000">
                          <a:solidFill>
                            <a:srgbClr val="1E293B"/>
                          </a:solidFill>
                          <a:latin typeface="Arial"/>
                        </a:defRPr>
                      </a:pPr>
                      <a:r>
                        <a:t>High-performance web API layer &amp; endpoint routing</a:t>
                      </a:r>
                    </a:p>
                  </a:txBody>
                  <a:tcPr>
                    <a:solidFill>
                      <a:srgbClr val="F8FAFC"/>
                    </a:solidFill>
                  </a:tcPr>
                </a:tc>
              </a:tr>
              <a:tr h="548640">
                <a:tc>
                  <a:txBody>
                    <a:bodyPr/>
                    <a:lstStyle/>
                    <a:p>
                      <a:pPr>
                        <a:defRPr sz="1000" b="1">
                          <a:solidFill>
                            <a:srgbClr val="1E293B"/>
                          </a:solidFill>
                          <a:latin typeface="Arial"/>
                        </a:defRPr>
                      </a:pPr>
                      <a:r>
                        <a:t>Uvicorn</a:t>
                      </a:r>
                    </a:p>
                  </a:txBody>
                  <a:tcPr>
                    <a:solidFill>
                      <a:srgbClr val="FFFFFF"/>
                    </a:solidFill>
                  </a:tcPr>
                </a:tc>
                <a:tc>
                  <a:txBody>
                    <a:bodyPr/>
                    <a:lstStyle/>
                    <a:p>
                      <a:pPr>
                        <a:defRPr sz="1000">
                          <a:solidFill>
                            <a:srgbClr val="1E293B"/>
                          </a:solidFill>
                          <a:latin typeface="Arial"/>
                        </a:defRPr>
                      </a:pPr>
                      <a:r>
                        <a:t>ASGI server for local development execution</a:t>
                      </a:r>
                    </a:p>
                  </a:txBody>
                  <a:tcPr>
                    <a:solidFill>
                      <a:srgbClr val="FFFFFF"/>
                    </a:solidFill>
                  </a:tcPr>
                </a:tc>
              </a:tr>
              <a:tr h="548640">
                <a:tc>
                  <a:txBody>
                    <a:bodyPr/>
                    <a:lstStyle/>
                    <a:p>
                      <a:pPr>
                        <a:defRPr sz="1000" b="1">
                          <a:solidFill>
                            <a:srgbClr val="1E293B"/>
                          </a:solidFill>
                          <a:latin typeface="Arial"/>
                        </a:defRPr>
                      </a:pPr>
                      <a:r>
                        <a:t>PDF Text Extractor</a:t>
                      </a:r>
                    </a:p>
                  </a:txBody>
                  <a:tcPr>
                    <a:solidFill>
                      <a:srgbClr val="F8FAFC"/>
                    </a:solidFill>
                  </a:tcPr>
                </a:tc>
                <a:tc>
                  <a:txBody>
                    <a:bodyPr/>
                    <a:lstStyle/>
                    <a:p>
                      <a:pPr>
                        <a:defRPr sz="1000">
                          <a:solidFill>
                            <a:srgbClr val="1E293B"/>
                          </a:solidFill>
                          <a:latin typeface="Arial"/>
                        </a:defRPr>
                      </a:pPr>
                      <a:r>
                        <a:t>Extracts embedded text layers from uploaded PDF files</a:t>
                      </a:r>
                    </a:p>
                  </a:txBody>
                  <a:tcPr>
                    <a:solidFill>
                      <a:srgbClr val="F8FAFC"/>
                    </a:solidFill>
                  </a:tcPr>
                </a:tc>
              </a:tr>
              <a:tr h="548640">
                <a:tc>
                  <a:txBody>
                    <a:bodyPr/>
                    <a:lstStyle/>
                    <a:p>
                      <a:pPr>
                        <a:defRPr sz="1000" b="1">
                          <a:solidFill>
                            <a:srgbClr val="1E293B"/>
                          </a:solidFill>
                          <a:latin typeface="Arial"/>
                        </a:defRPr>
                      </a:pPr>
                      <a:r>
                        <a:t>TF-IDF Vectorizer</a:t>
                      </a:r>
                    </a:p>
                  </a:txBody>
                  <a:tcPr>
                    <a:solidFill>
                      <a:srgbClr val="FFFFFF"/>
                    </a:solidFill>
                  </a:tcPr>
                </a:tc>
                <a:tc>
                  <a:txBody>
                    <a:bodyPr/>
                    <a:lstStyle/>
                    <a:p>
                      <a:pPr>
                        <a:defRPr sz="1000">
                          <a:solidFill>
                            <a:srgbClr val="1E293B"/>
                          </a:solidFill>
                          <a:latin typeface="Arial"/>
                        </a:defRPr>
                      </a:pPr>
                      <a:r>
                        <a:t>Sparse term-weighted lexical retrieval of document chunks</a:t>
                      </a:r>
                    </a:p>
                  </a:txBody>
                  <a:tcPr>
                    <a:solidFill>
                      <a:srgbClr val="FFFFFF"/>
                    </a:solidFill>
                  </a:tcPr>
                </a:tc>
              </a:tr>
              <a:tr h="548640">
                <a:tc>
                  <a:txBody>
                    <a:bodyPr/>
                    <a:lstStyle/>
                    <a:p>
                      <a:pPr>
                        <a:defRPr sz="1000" b="1">
                          <a:solidFill>
                            <a:srgbClr val="1E293B"/>
                          </a:solidFill>
                          <a:latin typeface="Arial"/>
                        </a:defRPr>
                      </a:pPr>
                      <a:r>
                        <a:t>Google Gemini API</a:t>
                      </a:r>
                    </a:p>
                  </a:txBody>
                  <a:tcPr>
                    <a:solidFill>
                      <a:srgbClr val="F8FAFC"/>
                    </a:solidFill>
                  </a:tcPr>
                </a:tc>
                <a:tc>
                  <a:txBody>
                    <a:bodyPr/>
                    <a:lstStyle/>
                    <a:p>
                      <a:pPr>
                        <a:defRPr sz="1000">
                          <a:solidFill>
                            <a:srgbClr val="1E293B"/>
                          </a:solidFill>
                          <a:latin typeface="Arial"/>
                        </a:defRPr>
                      </a:pPr>
                      <a:r>
                        <a:t>Large Language Model for contextual natural-language generation</a:t>
                      </a:r>
                    </a:p>
                  </a:txBody>
                  <a:tcPr>
                    <a:solidFill>
                      <a:srgbClr val="F8FAFC"/>
                    </a:solidFill>
                  </a:tcPr>
                </a:tc>
              </a:tr>
              <a:tr h="548640">
                <a:tc>
                  <a:txBody>
                    <a:bodyPr/>
                    <a:lstStyle/>
                    <a:p>
                      <a:pPr>
                        <a:defRPr sz="1000" b="1">
                          <a:solidFill>
                            <a:srgbClr val="1E293B"/>
                          </a:solidFill>
                          <a:latin typeface="Arial"/>
                        </a:defRPr>
                      </a:pPr>
                      <a:r>
                        <a:t>SQLite (medrag.db)</a:t>
                      </a:r>
                    </a:p>
                  </a:txBody>
                  <a:tcPr>
                    <a:solidFill>
                      <a:srgbClr val="FFFFFF"/>
                    </a:solidFill>
                  </a:tcPr>
                </a:tc>
                <a:tc>
                  <a:txBody>
                    <a:bodyPr/>
                    <a:lstStyle/>
                    <a:p>
                      <a:pPr>
                        <a:defRPr sz="1000">
                          <a:solidFill>
                            <a:srgbClr val="1E293B"/>
                          </a:solidFill>
                          <a:latin typeface="Arial"/>
                        </a:defRPr>
                      </a:pPr>
                      <a:r>
                        <a:t>Local persistent database for reports, chunks, &amp; chat history</a:t>
                      </a:r>
                    </a:p>
                  </a:txBody>
                  <a:tcPr>
                    <a:solidFill>
                      <a:srgbClr val="FFFFFF"/>
                    </a:solidFill>
                  </a:tcPr>
                </a:tc>
              </a:tr>
            </a:tbl>
          </a:graphicData>
        </a:graphic>
      </p:graphicFrame>
      <p:sp>
        <p:nvSpPr>
          <p:cNvPr id="8" name="Rounded Rectangle 7"/>
          <p:cNvSpPr/>
          <p:nvPr/>
        </p:nvSpPr>
        <p:spPr>
          <a:xfrm>
            <a:off x="7223760" y="1463040"/>
            <a:ext cx="4236415" cy="4389120"/>
          </a:xfrm>
          <a:prstGeom prst="roundRect">
            <a:avLst/>
          </a:prstGeom>
          <a:solidFill>
            <a:srgbClr val="FFF7ED"/>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D97706"/>
                </a:solidFill>
                <a:latin typeface="Georgia"/>
              </a:defRPr>
            </a:pPr>
            <a:r>
              <a:t>Dataset &amp; Demonstration Scope</a:t>
            </a:r>
          </a:p>
          <a:p>
            <a:pPr>
              <a:spcBef>
                <a:spcPts val="800"/>
              </a:spcBef>
              <a:defRPr sz="1100">
                <a:solidFill>
                  <a:srgbClr val="1E293B"/>
                </a:solidFill>
                <a:latin typeface="Arial"/>
              </a:defRPr>
            </a:pPr>
            <a:r>
              <a:t>• Synthetic Medical Reports: Bundled sample report for demonstration patient 'Aarav Sharma' (Identifier: DEMO-003).</a:t>
            </a:r>
          </a:p>
          <a:p>
            <a:pPr>
              <a:spcBef>
                <a:spcPts val="800"/>
              </a:spcBef>
              <a:defRPr sz="1100">
                <a:solidFill>
                  <a:srgbClr val="1E293B"/>
                </a:solidFill>
                <a:latin typeface="Arial"/>
              </a:defRPr>
            </a:pPr>
            <a:r>
              <a:t>• Strict Educational Boundaries: Does not use real patient PHI. Explicitly claims NO clinical diagnosis, treatment advice, or FDA compliance.</a:t>
            </a:r>
          </a:p>
          <a:p>
            <a:pPr>
              <a:spcBef>
                <a:spcPts val="800"/>
              </a:spcBef>
              <a:defRPr sz="1100">
                <a:solidFill>
                  <a:srgbClr val="1E293B"/>
                </a:solidFill>
                <a:latin typeface="Arial"/>
              </a:defRPr>
            </a:pPr>
            <a:r>
              <a:t>• Local Development Address: Runs locally at http://127.0.0.1:8000.</a:t>
            </a:r>
          </a:p>
          <a:p>
            <a:pPr>
              <a:spcBef>
                <a:spcPts val="800"/>
              </a:spcBef>
              <a:defRPr sz="1100">
                <a:solidFill>
                  <a:srgbClr val="1E293B"/>
                </a:solidFill>
                <a:latin typeface="Arial"/>
              </a:defRPr>
            </a:pPr>
            <a:r>
              <a:t>• Secure API Credentialing: Gemini API key kept securely in server-side .env file; never exposed to client browser.</a:t>
            </a:r>
          </a:p>
          <a:p>
            <a:pPr>
              <a:spcBef>
                <a:spcPts val="800"/>
              </a:spcBef>
              <a:defRPr sz="1100">
                <a:solidFill>
                  <a:srgbClr val="1E293B"/>
                </a:solidFill>
                <a:latin typeface="Arial"/>
              </a:defRPr>
            </a:pPr>
            <a:r>
              <a:t>• Automated Test Suite: Python unittest discovery mechanism for verifying component health.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8. System Methodology &amp; Architecture</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10</a:t>
            </a:r>
          </a:p>
        </p:txBody>
      </p:sp>
      <p:sp>
        <p:nvSpPr>
          <p:cNvPr id="7" name="Rounded Rectangle 6"/>
          <p:cNvSpPr/>
          <p:nvPr/>
        </p:nvSpPr>
        <p:spPr>
          <a:xfrm>
            <a:off x="731520" y="1463040"/>
            <a:ext cx="1920240" cy="1005840"/>
          </a:xfrm>
          <a:prstGeom prst="roundRect">
            <a:avLst/>
          </a:prstGeom>
          <a:solidFill>
            <a:srgbClr val="80181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1. User Interface</a:t>
            </a:r>
            <a:br/>
            <a:r>
              <a:t>(Patient/Doctor)</a:t>
            </a:r>
          </a:p>
        </p:txBody>
      </p:sp>
      <p:sp>
        <p:nvSpPr>
          <p:cNvPr id="8" name="Rounded Rectangle 7"/>
          <p:cNvSpPr/>
          <p:nvPr/>
        </p:nvSpPr>
        <p:spPr>
          <a:xfrm>
            <a:off x="2926080" y="1463040"/>
            <a:ext cx="1920240" cy="1005840"/>
          </a:xfrm>
          <a:prstGeom prst="roundRect">
            <a:avLst/>
          </a:prstGeom>
          <a:solidFill>
            <a:srgbClr val="0F172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2. PDF Ingestion</a:t>
            </a:r>
            <a:br/>
            <a:r>
              <a:t>(Text Extraction)</a:t>
            </a:r>
          </a:p>
        </p:txBody>
      </p:sp>
      <p:sp>
        <p:nvSpPr>
          <p:cNvPr id="9" name="Rounded Rectangle 8"/>
          <p:cNvSpPr/>
          <p:nvPr/>
        </p:nvSpPr>
        <p:spPr>
          <a:xfrm>
            <a:off x="5120640" y="1463040"/>
            <a:ext cx="1920240" cy="1005840"/>
          </a:xfrm>
          <a:prstGeom prst="roundRect">
            <a:avLst/>
          </a:prstGeom>
          <a:solidFill>
            <a:srgbClr val="0F172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3. Chunking &amp;</a:t>
            </a:r>
            <a:br/>
            <a:r>
              <a:t>Indexing</a:t>
            </a:r>
          </a:p>
        </p:txBody>
      </p:sp>
      <p:sp>
        <p:nvSpPr>
          <p:cNvPr id="10" name="Rounded Rectangle 9"/>
          <p:cNvSpPr/>
          <p:nvPr/>
        </p:nvSpPr>
        <p:spPr>
          <a:xfrm>
            <a:off x="7315199" y="1463040"/>
            <a:ext cx="1920240" cy="1005840"/>
          </a:xfrm>
          <a:prstGeom prst="roundRect">
            <a:avLst/>
          </a:prstGeom>
          <a:solidFill>
            <a:srgbClr val="80181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4. TF-IDF</a:t>
            </a:r>
            <a:br/>
            <a:r>
              <a:t>Retrieval</a:t>
            </a:r>
          </a:p>
        </p:txBody>
      </p:sp>
      <p:sp>
        <p:nvSpPr>
          <p:cNvPr id="11" name="Rounded Rectangle 10"/>
          <p:cNvSpPr/>
          <p:nvPr/>
        </p:nvSpPr>
        <p:spPr>
          <a:xfrm>
            <a:off x="9509760" y="1463040"/>
            <a:ext cx="1920240" cy="1005840"/>
          </a:xfrm>
          <a:prstGeom prst="roundRect">
            <a:avLst/>
          </a:prstGeom>
          <a:solidFill>
            <a:srgbClr val="801818"/>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5. Gemini LLM</a:t>
            </a:r>
            <a:br/>
            <a:r>
              <a:t>(Grounded QA)</a:t>
            </a:r>
          </a:p>
        </p:txBody>
      </p:sp>
      <p:sp>
        <p:nvSpPr>
          <p:cNvPr id="12" name="Rounded Rectangle 11"/>
          <p:cNvSpPr/>
          <p:nvPr/>
        </p:nvSpPr>
        <p:spPr>
          <a:xfrm>
            <a:off x="731520" y="2743200"/>
            <a:ext cx="10728655"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200" b="1">
                <a:solidFill>
                  <a:srgbClr val="801818"/>
                </a:solidFill>
                <a:latin typeface="Arial"/>
              </a:defRPr>
            </a:pPr>
            <a:r>
              <a:t>Layer 1 — Ingestion &amp; Extraction: </a:t>
            </a:r>
            <a:r>
              <a:rPr b="0">
                <a:solidFill>
                  <a:srgbClr val="1E293B"/>
                </a:solidFill>
              </a:rPr>
              <a:t>PDF reports with embedded text layers are parsed; text is sanitized and associated with persistent report metadata.</a:t>
            </a:r>
          </a:p>
        </p:txBody>
      </p:sp>
      <p:sp>
        <p:nvSpPr>
          <p:cNvPr id="13" name="Rounded Rectangle 12"/>
          <p:cNvSpPr/>
          <p:nvPr/>
        </p:nvSpPr>
        <p:spPr>
          <a:xfrm>
            <a:off x="731520" y="3566160"/>
            <a:ext cx="10728655"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200" b="1">
                <a:solidFill>
                  <a:srgbClr val="801818"/>
                </a:solidFill>
                <a:latin typeface="Arial"/>
              </a:defRPr>
            </a:pPr>
            <a:r>
              <a:t>Layer 2 — Chunking &amp; Vocabulary Building: </a:t>
            </a:r>
            <a:r>
              <a:rPr b="0">
                <a:solidFill>
                  <a:srgbClr val="1E293B"/>
                </a:solidFill>
              </a:rPr>
              <a:t>Long documents are subdivided into smaller searchable segments to avoid prompt context overflow and preserve provenance.</a:t>
            </a:r>
          </a:p>
        </p:txBody>
      </p:sp>
      <p:sp>
        <p:nvSpPr>
          <p:cNvPr id="14" name="Rounded Rectangle 13"/>
          <p:cNvSpPr/>
          <p:nvPr/>
        </p:nvSpPr>
        <p:spPr>
          <a:xfrm>
            <a:off x="731520" y="4389120"/>
            <a:ext cx="10728655"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200" b="1">
                <a:solidFill>
                  <a:srgbClr val="801818"/>
                </a:solidFill>
                <a:latin typeface="Arial"/>
              </a:defRPr>
            </a:pPr>
            <a:r>
              <a:t>Layer 3 — Sparse TF-IDF Indexing &amp; Ranking: </a:t>
            </a:r>
            <a:r>
              <a:rPr b="0">
                <a:solidFill>
                  <a:srgbClr val="1E293B"/>
                </a:solidFill>
              </a:rPr>
              <a:t>Documents and queries are transformed into term-frequency inverse-document-frequency vectors; cosine similarity selects top-k chunks.</a:t>
            </a:r>
          </a:p>
        </p:txBody>
      </p:sp>
      <p:sp>
        <p:nvSpPr>
          <p:cNvPr id="15" name="Rounded Rectangle 14"/>
          <p:cNvSpPr/>
          <p:nvPr/>
        </p:nvSpPr>
        <p:spPr>
          <a:xfrm>
            <a:off x="731520" y="5212080"/>
            <a:ext cx="10728655"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200" b="1">
                <a:solidFill>
                  <a:srgbClr val="801818"/>
                </a:solidFill>
                <a:latin typeface="Arial"/>
              </a:defRPr>
            </a:pPr>
            <a:r>
              <a:t>Layer 4 — Augmentation &amp; Generation: </a:t>
            </a:r>
            <a:r>
              <a:rPr b="0">
                <a:solidFill>
                  <a:srgbClr val="1E293B"/>
                </a:solidFill>
              </a:rPr>
              <a:t>Retrieved excerpts and dialogue history are formatted into a constrained prompt, instructing Google Gemini to respond strictly from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9. Results &amp; Functional Validation</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11</a:t>
            </a:r>
          </a:p>
        </p:txBody>
      </p:sp>
      <p:graphicFrame>
        <p:nvGraphicFramePr>
          <p:cNvPr id="7" name="Table 6"/>
          <p:cNvGraphicFramePr>
            <a:graphicFrameLocks noGrp="1"/>
          </p:cNvGraphicFramePr>
          <p:nvPr/>
        </p:nvGraphicFramePr>
        <p:xfrm>
          <a:off x="731520" y="1463040"/>
          <a:ext cx="6583680" cy="4389120"/>
        </p:xfrm>
        <a:graphic>
          <a:graphicData uri="http://schemas.openxmlformats.org/drawingml/2006/table">
            <a:tbl>
              <a:tblPr firstRow="1" bandRow="1">
                <a:tableStyleId>{5C22544A-7EE6-4342-B048-85BDC9FD1C3A}</a:tableStyleId>
              </a:tblPr>
              <a:tblGrid>
                <a:gridCol w="2926080"/>
                <a:gridCol w="3657600"/>
              </a:tblGrid>
              <a:tr h="627017">
                <a:tc>
                  <a:txBody>
                    <a:bodyPr/>
                    <a:lstStyle/>
                    <a:p>
                      <a:pPr>
                        <a:defRPr sz="1100" b="1">
                          <a:solidFill>
                            <a:srgbClr val="FFFFFF"/>
                          </a:solidFill>
                          <a:latin typeface="Arial"/>
                        </a:defRPr>
                      </a:pPr>
                      <a:r>
                        <a:t>Test Objective</a:t>
                      </a:r>
                    </a:p>
                  </a:txBody>
                  <a:tcPr>
                    <a:solidFill>
                      <a:srgbClr val="801818"/>
                    </a:solidFill>
                  </a:tcPr>
                </a:tc>
                <a:tc>
                  <a:txBody>
                    <a:bodyPr/>
                    <a:lstStyle/>
                    <a:p>
                      <a:pPr>
                        <a:defRPr sz="1100" b="1">
                          <a:solidFill>
                            <a:srgbClr val="FFFFFF"/>
                          </a:solidFill>
                          <a:latin typeface="Arial"/>
                        </a:defRPr>
                      </a:pPr>
                      <a:r>
                        <a:t>Observed / Expected Behavior</a:t>
                      </a:r>
                    </a:p>
                  </a:txBody>
                  <a:tcPr>
                    <a:solidFill>
                      <a:srgbClr val="801818"/>
                    </a:solidFill>
                  </a:tcPr>
                </a:tc>
              </a:tr>
              <a:tr h="627017">
                <a:tc>
                  <a:txBody>
                    <a:bodyPr/>
                    <a:lstStyle/>
                    <a:p>
                      <a:pPr>
                        <a:defRPr sz="1000" b="1">
                          <a:solidFill>
                            <a:srgbClr val="1E293B"/>
                          </a:solidFill>
                          <a:latin typeface="Arial"/>
                        </a:defRPr>
                      </a:pPr>
                      <a:r>
                        <a:t>Synthetic PDF Processing</a:t>
                      </a:r>
                    </a:p>
                  </a:txBody>
                  <a:tcPr>
                    <a:solidFill>
                      <a:srgbClr val="FFFFFF"/>
                    </a:solidFill>
                  </a:tcPr>
                </a:tc>
                <a:tc>
                  <a:txBody>
                    <a:bodyPr/>
                    <a:lstStyle/>
                    <a:p>
                      <a:pPr>
                        <a:defRPr sz="1000">
                          <a:solidFill>
                            <a:srgbClr val="1E293B"/>
                          </a:solidFill>
                          <a:latin typeface="Arial"/>
                        </a:defRPr>
                      </a:pPr>
                      <a:r>
                        <a:t>Extracts and indexes embedded text; validated on bundled sample</a:t>
                      </a:r>
                    </a:p>
                  </a:txBody>
                  <a:tcPr>
                    <a:solidFill>
                      <a:srgbClr val="FFFFFF"/>
                    </a:solidFill>
                  </a:tcPr>
                </a:tc>
              </a:tr>
              <a:tr h="627017">
                <a:tc>
                  <a:txBody>
                    <a:bodyPr/>
                    <a:lstStyle/>
                    <a:p>
                      <a:pPr>
                        <a:defRPr sz="1000" b="1">
                          <a:solidFill>
                            <a:srgbClr val="1E293B"/>
                          </a:solidFill>
                          <a:latin typeface="Arial"/>
                        </a:defRPr>
                      </a:pPr>
                      <a:r>
                        <a:t>Relevant Evidence Retrieval</a:t>
                      </a:r>
                    </a:p>
                  </a:txBody>
                  <a:tcPr>
                    <a:solidFill>
                      <a:srgbClr val="F8FAFC"/>
                    </a:solidFill>
                  </a:tcPr>
                </a:tc>
                <a:tc>
                  <a:txBody>
                    <a:bodyPr/>
                    <a:lstStyle/>
                    <a:p>
                      <a:pPr>
                        <a:defRPr sz="1000">
                          <a:solidFill>
                            <a:srgbClr val="1E293B"/>
                          </a:solidFill>
                          <a:latin typeface="Arial"/>
                        </a:defRPr>
                      </a:pPr>
                      <a:r>
                        <a:t>Returns top relevant chunks for query via TF-IDF matching</a:t>
                      </a:r>
                    </a:p>
                  </a:txBody>
                  <a:tcPr>
                    <a:solidFill>
                      <a:srgbClr val="F8FAFC"/>
                    </a:solidFill>
                  </a:tcPr>
                </a:tc>
              </a:tr>
              <a:tr h="627017">
                <a:tc>
                  <a:txBody>
                    <a:bodyPr/>
                    <a:lstStyle/>
                    <a:p>
                      <a:pPr>
                        <a:defRPr sz="1000" b="1">
                          <a:solidFill>
                            <a:srgbClr val="1E293B"/>
                          </a:solidFill>
                          <a:latin typeface="Arial"/>
                        </a:defRPr>
                      </a:pPr>
                      <a:r>
                        <a:t>Grounded Response Generation</a:t>
                      </a:r>
                    </a:p>
                  </a:txBody>
                  <a:tcPr>
                    <a:solidFill>
                      <a:srgbClr val="FFFFFF"/>
                    </a:solidFill>
                  </a:tcPr>
                </a:tc>
                <a:tc>
                  <a:txBody>
                    <a:bodyPr/>
                    <a:lstStyle/>
                    <a:p>
                      <a:pPr>
                        <a:defRPr sz="1000">
                          <a:solidFill>
                            <a:srgbClr val="1E293B"/>
                          </a:solidFill>
                          <a:latin typeface="Arial"/>
                        </a:defRPr>
                      </a:pPr>
                      <a:r>
                        <a:t>Generates answers grounded strictly in retrieved context using Gemini</a:t>
                      </a:r>
                    </a:p>
                  </a:txBody>
                  <a:tcPr>
                    <a:solidFill>
                      <a:srgbClr val="FFFFFF"/>
                    </a:solidFill>
                  </a:tcPr>
                </a:tc>
              </a:tr>
              <a:tr h="627017">
                <a:tc>
                  <a:txBody>
                    <a:bodyPr/>
                    <a:lstStyle/>
                    <a:p>
                      <a:pPr>
                        <a:defRPr sz="1000" b="1">
                          <a:solidFill>
                            <a:srgbClr val="1E293B"/>
                          </a:solidFill>
                          <a:latin typeface="Arial"/>
                        </a:defRPr>
                      </a:pPr>
                      <a:r>
                        <a:t>Report Search by ID / Name</a:t>
                      </a:r>
                    </a:p>
                  </a:txBody>
                  <a:tcPr>
                    <a:solidFill>
                      <a:srgbClr val="F8FAFC"/>
                    </a:solidFill>
                  </a:tcPr>
                </a:tc>
                <a:tc>
                  <a:txBody>
                    <a:bodyPr/>
                    <a:lstStyle/>
                    <a:p>
                      <a:pPr>
                        <a:defRPr sz="1000">
                          <a:solidFill>
                            <a:srgbClr val="1E293B"/>
                          </a:solidFill>
                          <a:latin typeface="Arial"/>
                        </a:defRPr>
                      </a:pPr>
                      <a:r>
                        <a:t>Supported; queries stored records by patient name or DEMO-003</a:t>
                      </a:r>
                    </a:p>
                  </a:txBody>
                  <a:tcPr>
                    <a:solidFill>
                      <a:srgbClr val="F8FAFC"/>
                    </a:solidFill>
                  </a:tcPr>
                </a:tc>
              </a:tr>
              <a:tr h="627017">
                <a:tc>
                  <a:txBody>
                    <a:bodyPr/>
                    <a:lstStyle/>
                    <a:p>
                      <a:pPr>
                        <a:defRPr sz="1000" b="1">
                          <a:solidFill>
                            <a:srgbClr val="1E293B"/>
                          </a:solidFill>
                          <a:latin typeface="Arial"/>
                        </a:defRPr>
                      </a:pPr>
                      <a:r>
                        <a:t>Conversation Turn Persistence</a:t>
                      </a:r>
                    </a:p>
                  </a:txBody>
                  <a:tcPr>
                    <a:solidFill>
                      <a:srgbClr val="FFFFFF"/>
                    </a:solidFill>
                  </a:tcPr>
                </a:tc>
                <a:tc>
                  <a:txBody>
                    <a:bodyPr/>
                    <a:lstStyle/>
                    <a:p>
                      <a:pPr>
                        <a:defRPr sz="1000">
                          <a:solidFill>
                            <a:srgbClr val="1E293B"/>
                          </a:solidFill>
                          <a:latin typeface="Arial"/>
                        </a:defRPr>
                      </a:pPr>
                      <a:r>
                        <a:t>Stored and retrieved across sessions in local SQLite (medrag.db)</a:t>
                      </a:r>
                    </a:p>
                  </a:txBody>
                  <a:tcPr>
                    <a:solidFill>
                      <a:srgbClr val="FFFFFF"/>
                    </a:solidFill>
                  </a:tcPr>
                </a:tc>
              </a:tr>
              <a:tr h="627018">
                <a:tc>
                  <a:txBody>
                    <a:bodyPr/>
                    <a:lstStyle/>
                    <a:p>
                      <a:pPr>
                        <a:defRPr sz="1000" b="1">
                          <a:solidFill>
                            <a:srgbClr val="1E293B"/>
                          </a:solidFill>
                          <a:latin typeface="Arial"/>
                        </a:defRPr>
                      </a:pPr>
                      <a:r>
                        <a:t>Image-Only Scanned PDF</a:t>
                      </a:r>
                    </a:p>
                  </a:txBody>
                  <a:tcPr>
                    <a:solidFill>
                      <a:srgbClr val="F8FAFC"/>
                    </a:solidFill>
                  </a:tcPr>
                </a:tc>
                <a:tc>
                  <a:txBody>
                    <a:bodyPr/>
                    <a:lstStyle/>
                    <a:p>
                      <a:pPr>
                        <a:defRPr sz="1000">
                          <a:solidFill>
                            <a:srgbClr val="1E293B"/>
                          </a:solidFill>
                          <a:latin typeface="Arial"/>
                        </a:defRPr>
                      </a:pPr>
                      <a:r>
                        <a:t>Explicitly restricted (No OCR layer in v1 prototype)</a:t>
                      </a:r>
                    </a:p>
                  </a:txBody>
                  <a:tcPr>
                    <a:solidFill>
                      <a:srgbClr val="F8FAFC"/>
                    </a:solidFill>
                  </a:tcPr>
                </a:tc>
              </a:tr>
            </a:tbl>
          </a:graphicData>
        </a:graphic>
      </p:graphicFrame>
      <p:sp>
        <p:nvSpPr>
          <p:cNvPr id="8" name="Rounded Rectangle 7"/>
          <p:cNvSpPr/>
          <p:nvPr/>
        </p:nvSpPr>
        <p:spPr>
          <a:xfrm>
            <a:off x="7589520" y="1463040"/>
            <a:ext cx="3870655" cy="438912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166534"/>
                </a:solidFill>
                <a:latin typeface="Georgia"/>
              </a:defRPr>
            </a:pPr>
            <a:r>
              <a:t>Discussion &amp; Academic Rigor</a:t>
            </a:r>
          </a:p>
          <a:p>
            <a:pPr>
              <a:spcBef>
                <a:spcPts val="800"/>
              </a:spcBef>
              <a:defRPr sz="1100">
                <a:solidFill>
                  <a:srgbClr val="1E293B"/>
                </a:solidFill>
                <a:latin typeface="Arial"/>
              </a:defRPr>
            </a:pPr>
            <a:r>
              <a:t>• Functional Over Synthetic Metrics: The paper consciously avoids invented percentages; reports verified engineering workflows.</a:t>
            </a:r>
          </a:p>
          <a:p>
            <a:pPr>
              <a:spcBef>
                <a:spcPts val="800"/>
              </a:spcBef>
              <a:defRPr sz="1100">
                <a:solidFill>
                  <a:srgbClr val="1E293B"/>
                </a:solidFill>
                <a:latin typeface="Arial"/>
              </a:defRPr>
            </a:pPr>
            <a:r>
              <a:t>• Retrieval Quality Dictates Performance: High-quality TF-IDF chunk matching ensures reliable Gemini explanations; poor retrieval leads to context starvation.</a:t>
            </a:r>
          </a:p>
          <a:p>
            <a:pPr>
              <a:spcBef>
                <a:spcPts val="800"/>
              </a:spcBef>
              <a:defRPr sz="1100">
                <a:solidFill>
                  <a:srgbClr val="1E293B"/>
                </a:solidFill>
                <a:latin typeface="Arial"/>
              </a:defRPr>
            </a:pPr>
            <a:r>
              <a:t>• Lightweight Baseline Established: Validates that a small-footprint prototype can achieve traceable RAG without costly enterprise vector infrastructure.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10. Conclusion</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12</a:t>
            </a:r>
          </a:p>
        </p:txBody>
      </p:sp>
      <p:sp>
        <p:nvSpPr>
          <p:cNvPr id="7" name="Rounded Rectangle 6"/>
          <p:cNvSpPr/>
          <p:nvPr/>
        </p:nvSpPr>
        <p:spPr>
          <a:xfrm>
            <a:off x="731520" y="1463040"/>
            <a:ext cx="10728655" cy="960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Successful Prototype Realization</a:t>
            </a:r>
          </a:p>
          <a:p>
            <a:pPr>
              <a:defRPr sz="1100">
                <a:solidFill>
                  <a:srgbClr val="1E293B"/>
                </a:solidFill>
                <a:latin typeface="Arial"/>
              </a:defRPr>
            </a:pPr>
            <a:r>
              <a:t>Engineered MedRAG, a fully functional, reproducible RAG-based document chatbot combining PDF parsing, TF-IDF retrieval, SQLite persistence, and Google Gemini response generation.</a:t>
            </a:r>
          </a:p>
        </p:txBody>
      </p:sp>
      <p:sp>
        <p:nvSpPr>
          <p:cNvPr id="8" name="Rounded Rectangle 7"/>
          <p:cNvSpPr/>
          <p:nvPr/>
        </p:nvSpPr>
        <p:spPr>
          <a:xfrm>
            <a:off x="731520" y="2606040"/>
            <a:ext cx="10728655" cy="960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Accessible Engineering Baseline</a:t>
            </a:r>
          </a:p>
          <a:p>
            <a:pPr>
              <a:defRPr sz="1100">
                <a:solidFill>
                  <a:srgbClr val="1E293B"/>
                </a:solidFill>
                <a:latin typeface="Arial"/>
              </a:defRPr>
            </a:pPr>
            <a:r>
              <a:t>Demonstrated that an effective, transparent document QA system can be executed locally without specialized vector infrastructure or complex embedding pipelines.</a:t>
            </a:r>
          </a:p>
        </p:txBody>
      </p:sp>
      <p:sp>
        <p:nvSpPr>
          <p:cNvPr id="9" name="Rounded Rectangle 8"/>
          <p:cNvSpPr/>
          <p:nvPr/>
        </p:nvSpPr>
        <p:spPr>
          <a:xfrm>
            <a:off x="731520" y="3749039"/>
            <a:ext cx="10728655" cy="960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Academic Honesty &amp; Transparency</a:t>
            </a:r>
          </a:p>
          <a:p>
            <a:pPr>
              <a:defRPr sz="1100">
                <a:solidFill>
                  <a:srgbClr val="1E293B"/>
                </a:solidFill>
                <a:latin typeface="Arial"/>
              </a:defRPr>
            </a:pPr>
            <a:r>
              <a:t>Distinctly differentiated between functional engineering verification and benchmark performance, setting clear boundaries regarding synthetic medical demonstration.</a:t>
            </a:r>
          </a:p>
        </p:txBody>
      </p:sp>
      <p:sp>
        <p:nvSpPr>
          <p:cNvPr id="10" name="Rounded Rectangle 9"/>
          <p:cNvSpPr/>
          <p:nvPr/>
        </p:nvSpPr>
        <p:spPr>
          <a:xfrm>
            <a:off x="731520" y="4892040"/>
            <a:ext cx="10728655" cy="960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Solid Foundation for Scalable Evolution</a:t>
            </a:r>
          </a:p>
          <a:p>
            <a:pPr>
              <a:defRPr sz="1100">
                <a:solidFill>
                  <a:srgbClr val="1E293B"/>
                </a:solidFill>
                <a:latin typeface="Arial"/>
              </a:defRPr>
            </a:pPr>
            <a:r>
              <a:t>Provided an extensible 5-tier architecture that allows future researchers to seamlessly swap sparse TF-IDF with dense semantic embeddings and corrective retrieval.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11. Future Scope &amp; Research Roadmap</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13</a:t>
            </a:r>
          </a:p>
        </p:txBody>
      </p:sp>
      <p:sp>
        <p:nvSpPr>
          <p:cNvPr id="7" name="Rounded Rectangle 6"/>
          <p:cNvSpPr/>
          <p:nvPr/>
        </p:nvSpPr>
        <p:spPr>
          <a:xfrm>
            <a:off x="731520" y="1463040"/>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Dense Embedding &amp; Vector DB Integration: </a:t>
            </a:r>
            <a:r>
              <a:rPr b="0">
                <a:solidFill>
                  <a:srgbClr val="1E293B"/>
                </a:solidFill>
              </a:rPr>
              <a:t>Transition from sparse TF-IDF to dense vector representations using Chroma/FAISS and Sentence-Transformers to capture semantic relationships.</a:t>
            </a:r>
          </a:p>
        </p:txBody>
      </p:sp>
      <p:sp>
        <p:nvSpPr>
          <p:cNvPr id="8" name="Rounded Rectangle 7"/>
          <p:cNvSpPr/>
          <p:nvPr/>
        </p:nvSpPr>
        <p:spPr>
          <a:xfrm>
            <a:off x="731520" y="2359152"/>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Hybrid Retrieval &amp; Re-ranking: </a:t>
            </a:r>
            <a:r>
              <a:rPr b="0">
                <a:solidFill>
                  <a:srgbClr val="1E293B"/>
                </a:solidFill>
              </a:rPr>
              <a:t>Combine lexical TF-IDF with dense semantic search, followed by a cross-encoder re-ranker for optimal chunk prioritization.</a:t>
            </a:r>
          </a:p>
        </p:txBody>
      </p:sp>
      <p:sp>
        <p:nvSpPr>
          <p:cNvPr id="9" name="Rounded Rectangle 8"/>
          <p:cNvSpPr/>
          <p:nvPr/>
        </p:nvSpPr>
        <p:spPr>
          <a:xfrm>
            <a:off x="731520" y="3255264"/>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Corrective RAG (CRAG) &amp; Self-Reflection: </a:t>
            </a:r>
            <a:r>
              <a:rPr b="0">
                <a:solidFill>
                  <a:srgbClr val="1E293B"/>
                </a:solidFill>
              </a:rPr>
              <a:t>Implement mechanisms inspired by CRAG [8] and Self-RAG [7] to evaluate retrieved passage quality before triggering generation.</a:t>
            </a:r>
          </a:p>
        </p:txBody>
      </p:sp>
      <p:sp>
        <p:nvSpPr>
          <p:cNvPr id="10" name="Rounded Rectangle 9"/>
          <p:cNvSpPr/>
          <p:nvPr/>
        </p:nvSpPr>
        <p:spPr>
          <a:xfrm>
            <a:off x="731520" y="4151376"/>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OCR Processing for Scanned Documents: </a:t>
            </a:r>
            <a:r>
              <a:rPr b="0">
                <a:solidFill>
                  <a:srgbClr val="1E293B"/>
                </a:solidFill>
              </a:rPr>
              <a:t>Integrate Tesseract OCR or PaddleOCR to support scanned, image-only medical documents and handwritten lab records.</a:t>
            </a:r>
          </a:p>
        </p:txBody>
      </p:sp>
      <p:sp>
        <p:nvSpPr>
          <p:cNvPr id="11" name="Rounded Rectangle 10"/>
          <p:cNvSpPr/>
          <p:nvPr/>
        </p:nvSpPr>
        <p:spPr>
          <a:xfrm>
            <a:off x="731520" y="5047488"/>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801818"/>
                </a:solidFill>
                <a:latin typeface="Arial"/>
              </a:defRPr>
            </a:pPr>
            <a:r>
              <a:t>🚀  Benchmark Evaluation on Biomedical Corpora: </a:t>
            </a:r>
            <a:r>
              <a:rPr b="0">
                <a:solidFill>
                  <a:srgbClr val="1E293B"/>
                </a:solidFill>
              </a:rPr>
              <a:t>Conduct controlled quantitative benchmarking against PubMedQA [9] to measure Recall@k, answer correctness, and latency.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188720"/>
            <a:ext cx="10728655" cy="36576"/>
          </a:xfrm>
          <a:prstGeom prst="rect">
            <a:avLst/>
          </a:prstGeom>
          <a:solidFill>
            <a:srgbClr val="801818"/>
          </a:solidFill>
          <a:ln>
            <a:solidFill>
              <a:srgbClr val="80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772400" cy="731520"/>
          </a:xfrm>
          <a:prstGeom prst="rect">
            <a:avLst/>
          </a:prstGeom>
          <a:noFill/>
        </p:spPr>
        <p:txBody>
          <a:bodyPr wrap="square" lIns="0" tIns="0" rIns="0" bIns="0">
            <a:spAutoFit/>
          </a:bodyPr>
          <a:lstStyle/>
          <a:p>
            <a:pPr>
              <a:defRPr sz="2800" b="1">
                <a:solidFill>
                  <a:srgbClr val="1E293B"/>
                </a:solidFill>
                <a:latin typeface="Georgia"/>
              </a:defRPr>
            </a:pPr>
            <a:r>
              <a:t>12. References (IEEE Format)</a:t>
            </a:r>
          </a:p>
        </p:txBody>
      </p:sp>
      <p:sp>
        <p:nvSpPr>
          <p:cNvPr id="4" name="TextBox 3"/>
          <p:cNvSpPr txBox="1"/>
          <p:nvPr/>
        </p:nvSpPr>
        <p:spPr>
          <a:xfrm>
            <a:off x="8412480" y="320040"/>
            <a:ext cx="3017520" cy="777240"/>
          </a:xfrm>
          <a:prstGeom prst="rect">
            <a:avLst/>
          </a:prstGeom>
          <a:noFill/>
        </p:spPr>
        <p:txBody>
          <a:bodyPr wrap="square" rIns="0" tIns="0" bIns="0">
            <a:spAutoFit/>
          </a:bodyPr>
          <a:lstStyle/>
          <a:p>
            <a:pPr algn="r">
              <a:defRPr sz="1300" b="1">
                <a:solidFill>
                  <a:srgbClr val="801818"/>
                </a:solidFill>
                <a:latin typeface="Arial"/>
              </a:defRPr>
            </a:pPr>
            <a:r>
              <a:t>SILVER OAK UNIVERSITY</a:t>
            </a:r>
          </a:p>
          <a:p>
            <a:pPr algn="r">
              <a:defRPr sz="900">
                <a:solidFill>
                  <a:srgbClr val="64748B"/>
                </a:solidFill>
                <a:latin typeface="Arial"/>
              </a:defRPr>
            </a:pPr>
            <a:r>
              <a:t>EDUCATION TO INNOVATION | NAAC A+</a:t>
            </a:r>
          </a:p>
        </p:txBody>
      </p:sp>
      <p:sp>
        <p:nvSpPr>
          <p:cNvPr id="5" name="Rectangle 4"/>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Academic Year 2025-2026</a:t>
            </a:r>
          </a:p>
          <a:p>
            <a:pPr algn="ctr">
              <a:defRPr sz="900" b="1">
                <a:solidFill>
                  <a:srgbClr val="801818"/>
                </a:solidFill>
                <a:latin typeface="Arial"/>
              </a:defRPr>
            </a:pPr>
            <a:r>
              <a:t>DEPARTMENT OF COMPUTER ENGINEERING  •  SILVER OAK UNIVERSITY</a:t>
            </a:r>
          </a:p>
          <a:p>
            <a:pPr algn="r">
              <a:defRPr sz="900">
                <a:solidFill>
                  <a:srgbClr val="64748B"/>
                </a:solidFill>
                <a:latin typeface="Arial"/>
              </a:defRPr>
            </a:pPr>
            <a:r>
              <a:t>Slide 14</a:t>
            </a:r>
          </a:p>
        </p:txBody>
      </p:sp>
      <p:sp>
        <p:nvSpPr>
          <p:cNvPr id="7" name="Rectangle 6"/>
          <p:cNvSpPr/>
          <p:nvPr/>
        </p:nvSpPr>
        <p:spPr>
          <a:xfrm>
            <a:off x="731520" y="1417320"/>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[1]  P. Lewis et al., "Retrieval-augmented generation for knowledge-intensive NLP tasks," in Proc. Adv. Neural Inf. Process. Syst. (NeurIPS), vol. 33, 2020.</a:t>
            </a:r>
          </a:p>
        </p:txBody>
      </p:sp>
      <p:sp>
        <p:nvSpPr>
          <p:cNvPr id="8" name="Rectangle 7"/>
          <p:cNvSpPr/>
          <p:nvPr/>
        </p:nvSpPr>
        <p:spPr>
          <a:xfrm>
            <a:off x="731520" y="1929384"/>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[2]  K. Guu et al., "Retrieval augmented language model pre-training," in Proc. 37th Int. Conf. Mach. Learn. (ICML), vol. 119, pp. 3929–3938, 2020.</a:t>
            </a:r>
          </a:p>
        </p:txBody>
      </p:sp>
      <p:sp>
        <p:nvSpPr>
          <p:cNvPr id="9" name="Rectangle 8"/>
          <p:cNvSpPr/>
          <p:nvPr/>
        </p:nvSpPr>
        <p:spPr>
          <a:xfrm>
            <a:off x="731520" y="2441448"/>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[3]  V. Karpukhin et al., "Dense passage retrieval for open-domain question answering," in Proc. 2020 Conf. EMNLP, pp. 6769–6781, 2020.</a:t>
            </a:r>
          </a:p>
        </p:txBody>
      </p:sp>
      <p:sp>
        <p:nvSpPr>
          <p:cNvPr id="10" name="Rectangle 9"/>
          <p:cNvSpPr/>
          <p:nvPr/>
        </p:nvSpPr>
        <p:spPr>
          <a:xfrm>
            <a:off x="731520" y="2953512"/>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[4]  G. Izacard and E. Grave, "Leveraging passage retrieval with generative models for open domain question answering," in Proc. 16th Conf. EACL, pp. 874–880, 2021.</a:t>
            </a:r>
          </a:p>
        </p:txBody>
      </p:sp>
      <p:sp>
        <p:nvSpPr>
          <p:cNvPr id="11" name="Rectangle 10"/>
          <p:cNvSpPr/>
          <p:nvPr/>
        </p:nvSpPr>
        <p:spPr>
          <a:xfrm>
            <a:off x="731520" y="3465576"/>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[5]  S. Borgeaud et al., "Improving language models by retrieving from trillions of tokens," in Proc. 39th Int. Conf. Mach. Learn. (ICML), vol. 162, pp. 2206–2240, 2022.</a:t>
            </a:r>
          </a:p>
        </p:txBody>
      </p:sp>
      <p:sp>
        <p:nvSpPr>
          <p:cNvPr id="12" name="Rectangle 11"/>
          <p:cNvSpPr/>
          <p:nvPr/>
        </p:nvSpPr>
        <p:spPr>
          <a:xfrm>
            <a:off x="731520" y="3977640"/>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[6]  Y. Gao et al., "Retrieval-augmented generation for large language models: A survey," arXiv:2312.10997, 2023.</a:t>
            </a:r>
          </a:p>
        </p:txBody>
      </p:sp>
      <p:sp>
        <p:nvSpPr>
          <p:cNvPr id="13" name="Rectangle 12"/>
          <p:cNvSpPr/>
          <p:nvPr/>
        </p:nvSpPr>
        <p:spPr>
          <a:xfrm>
            <a:off x="731520" y="4489704"/>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[7]  A. Asai et al., "Self-RAG: Learning to retrieve, generate, and critique through self-reflection," in Proc. ICLR, 2024.</a:t>
            </a:r>
          </a:p>
        </p:txBody>
      </p:sp>
      <p:sp>
        <p:nvSpPr>
          <p:cNvPr id="14" name="Rectangle 13"/>
          <p:cNvSpPr/>
          <p:nvPr/>
        </p:nvSpPr>
        <p:spPr>
          <a:xfrm>
            <a:off x="731520" y="5001768"/>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[8]  S.-Q. Yan, J.-C. Gu, Y. Zhu, and Z.-H. Ling, "Corrective retrieval augmented generation," arXiv:2401.15884, 2024.</a:t>
            </a:r>
          </a:p>
        </p:txBody>
      </p:sp>
      <p:sp>
        <p:nvSpPr>
          <p:cNvPr id="15" name="Rectangle 14"/>
          <p:cNvSpPr/>
          <p:nvPr/>
        </p:nvSpPr>
        <p:spPr>
          <a:xfrm>
            <a:off x="731520" y="5513832"/>
            <a:ext cx="10728655" cy="4572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54864"/>
          <a:lstStyle/>
          <a:p>
            <a:pPr algn="ctr">
              <a:defRPr sz="1000">
                <a:solidFill>
                  <a:srgbClr val="1E293B"/>
                </a:solidFill>
                <a:latin typeface="Arial"/>
              </a:defRPr>
            </a:pPr>
            <a:r>
              <a:t>[9]  Q. Jin, B. Dhingra, Z. Liu, W. W. Cohen, and X. Lu, "PubMedQA: A dataset for biomedical research question answering," in Proc. EMNLP-IJCNLP,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